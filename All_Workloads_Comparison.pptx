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pendency Migration" id="{3ba8b8d1-1838-0150-ed05-70902db4ca89}">
          <p14:sldIdLst>
            <p14:sldId id="256"/>
            <p14:sldId id="257"/>
          </p14:sldIdLst>
        </p14:section>
        <p14:section name="Security Repair" id="{1d4c55b9-cb11-9c1c-c0b4-87619dc763a0}">
          <p14:sldIdLst>
            <p14:sldId id="258"/>
            <p14:sldId id="259"/>
          </p14:sldIdLst>
        </p14:section>
        <p14:section name="Regression Tests" id="{cdd9f867-d195-7092-13a1-e3d89ce4db68}">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533"/>
                </a:solidFill>
                <a:latin typeface="+mn-lt"/>
              </a:defRPr>
            </a:pPr>
            <a:r>
              <a:rPr sz="1200" b="0" i="0" u="none" strike="noStrike">
                <a:solidFill>
                  <a:srgbClr val="1C2533"/>
                </a:solidFill>
                <a:latin typeface="+mn-lt"/>
              </a:rPr>
              <a:t>Work time per attempt (s) · budget 600 s</a:t>
            </a:r>
          </a:p>
        </c:rich>
      </c:tx>
      <c:layout/>
      <c:overlay val="0"/>
    </c:title>
    <c:autoTitleDeleted val="0"/>
    <c:plotArea>
      <c:layout/>
      <c:barChart>
        <c:barDir val="bar"/>
        <c:grouping val="clustered"/>
        <c:varyColors val="0"/>
        <c:ser>
          <c:idx val="0"/>
          <c:order val="0"/>
          <c:tx>
            <c:strRef>
              <c:f>Sheet1!$B$1</c:f>
              <c:strCache>
                <c:ptCount val="1"/>
                <c:pt idx="0">
                  <c:v>Accepted</c:v>
                </c:pt>
              </c:strCache>
            </c:strRef>
          </c:tx>
          <c:spPr>
            <a:solidFill>
              <a:srgbClr val="2E8B57"/>
            </a:solidFill>
            <a:effectLst/>
          </c:spPr>
          <c:invertIfNegative val="0"/>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GPT-6 Astra (cloud)</c:v>
                  </c:pt>
                  <c:pt idx="1">
                    <c:v>Qwen3 8B (local)</c:v>
                  </c:pt>
                  <c:pt idx="2">
                    <c:v>Qwen3-Coder (local)</c:v>
                  </c:pt>
                  <c:pt idx="3">
                    <c:v>Fable 5 27B (local)</c:v>
                  </c:pt>
                  <c:pt idx="4">
                    <c:v>Qwen3.8 27B (local)</c:v>
                  </c:pt>
                </c:lvl>
              </c:multiLvlStrCache>
            </c:multiLvlStrRef>
          </c:cat>
          <c:val>
            <c:numRef>
              <c:f>Sheet1!$B$2:$B$6</c:f>
              <c:numCache>
                <c:formatCode>General</c:formatCode>
                <c:ptCount val="5"/>
                <c:pt idx="0">
                  <c:v>33.3</c:v>
                </c:pt>
                <c:pt idx="1">
                  <c:v>0</c:v>
                </c:pt>
                <c:pt idx="2">
                  <c:v>0</c:v>
                </c:pt>
                <c:pt idx="3">
                  <c:v>310.4</c:v>
                </c:pt>
                <c:pt idx="4">
                  <c:v>498.9</c:v>
                </c:pt>
              </c:numCache>
            </c:numRef>
          </c:val>
        </c:ser>
        <c:ser>
          <c:idx val="1"/>
          <c:order val="1"/>
          <c:tx>
            <c:strRef>
              <c:f>Sheet1!$C$1</c:f>
              <c:strCache>
                <c:ptCount val="1"/>
                <c:pt idx="0">
                  <c:v>Not accepted</c:v>
                </c:pt>
              </c:strCache>
            </c:strRef>
          </c:tx>
          <c:spPr>
            <a:solidFill>
              <a:srgbClr val="C8473F"/>
            </a:solidFill>
            <a:effectLst/>
          </c:spPr>
          <c:invertIfNegative val="0"/>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GPT-6 Astra (cloud)</c:v>
                  </c:pt>
                  <c:pt idx="1">
                    <c:v>Qwen3 8B (local)</c:v>
                  </c:pt>
                  <c:pt idx="2">
                    <c:v>Qwen3-Coder (local)</c:v>
                  </c:pt>
                  <c:pt idx="3">
                    <c:v>Fable 5 27B (local)</c:v>
                  </c:pt>
                  <c:pt idx="4">
                    <c:v>Qwen3.8 27B (local)</c:v>
                  </c:pt>
                </c:lvl>
              </c:multiLvlStrCache>
            </c:multiLvlStrRef>
          </c:cat>
          <c:val>
            <c:numRef>
              <c:f>Sheet1!$C$2:$C$6</c:f>
              <c:numCache>
                <c:formatCode>General</c:formatCode>
                <c:ptCount val="5"/>
                <c:pt idx="0">
                  <c:v>0</c:v>
                </c:pt>
                <c:pt idx="1">
                  <c:v>9.9</c:v>
                </c:pt>
                <c:pt idx="2">
                  <c:v>460.2</c:v>
                </c:pt>
                <c:pt idx="3">
                  <c:v>0</c:v>
                </c:pt>
                <c:pt idx="4">
                  <c:v>0</c:v>
                </c:pt>
              </c:numCache>
            </c:numRef>
          </c:val>
        </c:ser>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2533"/>
                </a:solidFill>
                <a:latin typeface="+mn-lt"/>
              </a:defRPr>
            </a:pPr>
            <a:endParaRPr lang="en-US"/>
          </a:p>
        </c:txPr>
        <c:crossAx val="2094734552"/>
        <c:crosses val="autoZero"/>
        <c:auto val="1"/>
        <c:lblAlgn val="ctr"/>
        <c:noMultiLvlLbl val="1"/>
      </c:catAx>
      <c:valAx>
        <c:axId val="2094734552"/>
        <c:scaling>
          <c:orientation val="minMax"/>
          <c:max val="69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C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533"/>
                </a:solidFill>
                <a:latin typeface="+mn-lt"/>
              </a:defRPr>
            </a:pPr>
            <a:r>
              <a:rPr sz="1200" b="0" i="0" u="none" strike="noStrike">
                <a:solidFill>
                  <a:srgbClr val="1C2533"/>
                </a:solidFill>
                <a:latin typeface="+mn-lt"/>
              </a:rPr>
              <a:t>Work time per attempt (s) · budget 600 s</a:t>
            </a:r>
          </a:p>
        </c:rich>
      </c:tx>
      <c:layout/>
      <c:overlay val="0"/>
    </c:title>
    <c:autoTitleDeleted val="0"/>
    <c:plotArea>
      <c:layout/>
      <c:barChart>
        <c:barDir val="bar"/>
        <c:grouping val="clustered"/>
        <c:varyColors val="0"/>
        <c:ser>
          <c:idx val="0"/>
          <c:order val="0"/>
          <c:tx>
            <c:strRef>
              <c:f>Sheet1!$B$1</c:f>
              <c:strCache>
                <c:ptCount val="1"/>
                <c:pt idx="0">
                  <c:v>Passes Oct 26 re-grade</c:v>
                </c:pt>
              </c:strCache>
            </c:strRef>
          </c:tx>
          <c:spPr>
            <a:solidFill>
              <a:srgbClr val="2E8B57"/>
            </a:solidFill>
            <a:effectLst/>
          </c:spPr>
          <c:invertIfNegative val="0"/>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GPT-6 Astra (cloud)</c:v>
                  </c:pt>
                  <c:pt idx="1">
                    <c:v>Qwen3 8B (local)</c:v>
                  </c:pt>
                  <c:pt idx="2">
                    <c:v>Qwen3-Coder (local)</c:v>
                  </c:pt>
                  <c:pt idx="3">
                    <c:v>Fable 5 27B (local)</c:v>
                  </c:pt>
                  <c:pt idx="4">
                    <c:v>Qwen3.8 27B (local)</c:v>
                  </c:pt>
                </c:lvl>
              </c:multiLvlStrCache>
            </c:multiLvlStrRef>
          </c:cat>
          <c:val>
            <c:numRef>
              <c:f>Sheet1!$B$2:$B$6</c:f>
              <c:numCache>
                <c:formatCode>General</c:formatCode>
                <c:ptCount val="5"/>
                <c:pt idx="0">
                  <c:v>112.4</c:v>
                </c:pt>
                <c:pt idx="1">
                  <c:v>0</c:v>
                </c:pt>
                <c:pt idx="2">
                  <c:v>0</c:v>
                </c:pt>
                <c:pt idx="3">
                  <c:v>0</c:v>
                </c:pt>
                <c:pt idx="4">
                  <c:v>0</c:v>
                </c:pt>
              </c:numCache>
            </c:numRef>
          </c:val>
        </c:ser>
        <c:ser>
          <c:idx val="1"/>
          <c:order val="1"/>
          <c:tx>
            <c:strRef>
              <c:f>Sheet1!$C$1</c:f>
              <c:strCache>
                <c:ptCount val="1"/>
                <c:pt idx="0">
                  <c:v>Accepted on v9 only</c:v>
                </c:pt>
              </c:strCache>
            </c:strRef>
          </c:tx>
          <c:spPr>
            <a:solidFill>
              <a:srgbClr val="E8A33D"/>
            </a:solidFill>
            <a:effectLst/>
          </c:spPr>
          <c:invertIfNegative val="0"/>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GPT-6 Astra (cloud)</c:v>
                  </c:pt>
                  <c:pt idx="1">
                    <c:v>Qwen3 8B (local)</c:v>
                  </c:pt>
                  <c:pt idx="2">
                    <c:v>Qwen3-Coder (local)</c:v>
                  </c:pt>
                  <c:pt idx="3">
                    <c:v>Fable 5 27B (local)</c:v>
                  </c:pt>
                  <c:pt idx="4">
                    <c:v>Qwen3.8 27B (local)</c:v>
                  </c:pt>
                </c:lvl>
              </c:multiLvlStrCache>
            </c:multiLvlStrRef>
          </c:cat>
          <c:val>
            <c:numRef>
              <c:f>Sheet1!$C$2:$C$6</c:f>
              <c:numCache>
                <c:formatCode>General</c:formatCode>
                <c:ptCount val="5"/>
                <c:pt idx="0">
                  <c:v>0</c:v>
                </c:pt>
                <c:pt idx="1">
                  <c:v>0</c:v>
                </c:pt>
                <c:pt idx="2">
                  <c:v>0</c:v>
                </c:pt>
                <c:pt idx="3">
                  <c:v>425.8</c:v>
                </c:pt>
                <c:pt idx="4">
                  <c:v>591.3</c:v>
                </c:pt>
              </c:numCache>
            </c:numRef>
          </c:val>
        </c:ser>
        <c:ser>
          <c:idx val="2"/>
          <c:order val="2"/>
          <c:tx>
            <c:strRef>
              <c:f>Sheet1!$D$1</c:f>
              <c:strCache>
                <c:ptCount val="1"/>
                <c:pt idx="0">
                  <c:v>Not accepted</c:v>
                </c:pt>
              </c:strCache>
            </c:strRef>
          </c:tx>
          <c:spPr>
            <a:solidFill>
              <a:srgbClr val="C8473F"/>
            </a:solidFill>
            <a:effectLst/>
          </c:spPr>
          <c:invertIfNegative val="0"/>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GPT-6 Astra (cloud)</c:v>
                  </c:pt>
                  <c:pt idx="1">
                    <c:v>Qwen3 8B (local)</c:v>
                  </c:pt>
                  <c:pt idx="2">
                    <c:v>Qwen3-Coder (local)</c:v>
                  </c:pt>
                  <c:pt idx="3">
                    <c:v>Fable 5 27B (local)</c:v>
                  </c:pt>
                  <c:pt idx="4">
                    <c:v>Qwen3.8 27B (local)</c:v>
                  </c:pt>
                </c:lvl>
              </c:multiLvlStrCache>
            </c:multiLvlStrRef>
          </c:cat>
          <c:val>
            <c:numRef>
              <c:f>Sheet1!$D$2:$D$6</c:f>
              <c:numCache>
                <c:formatCode>General</c:formatCode>
                <c:ptCount val="5"/>
                <c:pt idx="0">
                  <c:v>0</c:v>
                </c:pt>
                <c:pt idx="1">
                  <c:v>37.7</c:v>
                </c:pt>
                <c:pt idx="2">
                  <c:v>291.6</c:v>
                </c:pt>
                <c:pt idx="3">
                  <c:v>0</c:v>
                </c:pt>
                <c:pt idx="4">
                  <c:v>0</c:v>
                </c:pt>
              </c:numCache>
            </c:numRef>
          </c:val>
        </c:ser>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2533"/>
                </a:solidFill>
                <a:latin typeface="+mn-lt"/>
              </a:defRPr>
            </a:pPr>
            <a:endParaRPr lang="en-US"/>
          </a:p>
        </c:txPr>
        <c:crossAx val="2094734552"/>
        <c:crosses val="autoZero"/>
        <c:auto val="1"/>
        <c:lblAlgn val="ctr"/>
        <c:noMultiLvlLbl val="1"/>
      </c:catAx>
      <c:valAx>
        <c:axId val="2094734552"/>
        <c:scaling>
          <c:orientation val="minMax"/>
          <c:max val="696"/>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C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C2533"/>
                </a:solidFill>
                <a:latin typeface="+mn-lt"/>
              </a:defRPr>
            </a:pPr>
            <a:r>
              <a:rPr sz="1200" b="0" i="0" u="none" strike="noStrike">
                <a:solidFill>
                  <a:srgbClr val="1C2533"/>
                </a:solidFill>
                <a:latin typeface="+mn-lt"/>
              </a:rPr>
              <a:t>Work time per attempt (s) · budget 720 s</a:t>
            </a:r>
          </a:p>
        </c:rich>
      </c:tx>
      <c:layout/>
      <c:overlay val="0"/>
    </c:title>
    <c:autoTitleDeleted val="0"/>
    <c:plotArea>
      <c:layout/>
      <c:barChart>
        <c:barDir val="bar"/>
        <c:grouping val="clustered"/>
        <c:varyColors val="0"/>
        <c:ser>
          <c:idx val="0"/>
          <c:order val="0"/>
          <c:tx>
            <c:strRef>
              <c:f>Sheet1!$B$1</c:f>
              <c:strCache>
                <c:ptCount val="1"/>
                <c:pt idx="0">
                  <c:v>Accepted</c:v>
                </c:pt>
              </c:strCache>
            </c:strRef>
          </c:tx>
          <c:spPr>
            <a:solidFill>
              <a:srgbClr val="2E8B57"/>
            </a:solidFill>
            <a:effectLst/>
          </c:spPr>
          <c:invertIfNegative val="0"/>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GPT-6 Astra (cloud)</c:v>
                  </c:pt>
                  <c:pt idx="1">
                    <c:v>Qwen3 8B (local)</c:v>
                  </c:pt>
                  <c:pt idx="2">
                    <c:v>Qwen3-Coder (local)</c:v>
                  </c:pt>
                  <c:pt idx="3">
                    <c:v>Fable 5 27B (local)</c:v>
                  </c:pt>
                  <c:pt idx="4">
                    <c:v>Qwen3.8 27B (local)</c:v>
                  </c:pt>
                </c:lvl>
              </c:multiLvlStrCache>
            </c:multiLvlStrRef>
          </c:cat>
          <c:val>
            <c:numRef>
              <c:f>Sheet1!$B$2:$B$6</c:f>
              <c:numCache>
                <c:formatCode>General</c:formatCode>
                <c:ptCount val="5"/>
                <c:pt idx="0">
                  <c:v>60.1</c:v>
                </c:pt>
                <c:pt idx="1">
                  <c:v>0</c:v>
                </c:pt>
                <c:pt idx="2">
                  <c:v>47.6</c:v>
                </c:pt>
                <c:pt idx="3">
                  <c:v>586.6</c:v>
                </c:pt>
                <c:pt idx="4">
                  <c:v>672.4</c:v>
                </c:pt>
              </c:numCache>
            </c:numRef>
          </c:val>
        </c:ser>
        <c:ser>
          <c:idx val="1"/>
          <c:order val="1"/>
          <c:tx>
            <c:strRef>
              <c:f>Sheet1!$C$1</c:f>
              <c:strCache>
                <c:ptCount val="1"/>
                <c:pt idx="0">
                  <c:v>Not accepted</c:v>
                </c:pt>
              </c:strCache>
            </c:strRef>
          </c:tx>
          <c:spPr>
            <a:solidFill>
              <a:srgbClr val="C8473F"/>
            </a:solidFill>
            <a:effectLst/>
          </c:spPr>
          <c:invertIfNegative val="0"/>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cat>
            <c:multiLvlStrRef>
              <c:f>Sheet1!$A$2:$A$6</c:f>
              <c:multiLvlStrCache>
                <c:ptCount val="5"/>
                <c:lvl>
                  <c:pt idx="0">
                    <c:v>GPT-6 Astra (cloud)</c:v>
                  </c:pt>
                  <c:pt idx="1">
                    <c:v>Qwen3 8B (local)</c:v>
                  </c:pt>
                  <c:pt idx="2">
                    <c:v>Qwen3-Coder (local)</c:v>
                  </c:pt>
                  <c:pt idx="3">
                    <c:v>Fable 5 27B (local)</c:v>
                  </c:pt>
                  <c:pt idx="4">
                    <c:v>Qwen3.8 27B (local)</c:v>
                  </c:pt>
                </c:lvl>
              </c:multiLvlStrCache>
            </c:multiLvlStrRef>
          </c:cat>
          <c:val>
            <c:numRef>
              <c:f>Sheet1!$C$2:$C$6</c:f>
              <c:numCache>
                <c:formatCode>General</c:formatCode>
                <c:ptCount val="5"/>
                <c:pt idx="0">
                  <c:v>0</c:v>
                </c:pt>
                <c:pt idx="1">
                  <c:v>54.9</c:v>
                </c:pt>
                <c:pt idx="2">
                  <c:v>0</c:v>
                </c:pt>
                <c:pt idx="3">
                  <c:v>0</c:v>
                </c:pt>
                <c:pt idx="4">
                  <c:v>0</c:v>
                </c:pt>
              </c:numCache>
            </c:numRef>
          </c:val>
        </c:ser>
        <c:dLbls>
          <c:numFmt formatCode="0;;;" sourceLinked="0"/>
          <c:txPr>
            <a:bodyPr/>
            <a:lstStyle/>
            <a:p>
              <a:pPr>
                <a:defRPr b="0" i="0" strike="noStrike" sz="1000" u="none">
                  <a:solidFill>
                    <a:srgbClr val="1C2533"/>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1C2533"/>
                </a:solidFill>
                <a:latin typeface="+mn-lt"/>
              </a:defRPr>
            </a:pPr>
            <a:endParaRPr lang="en-US"/>
          </a:p>
        </c:txPr>
        <c:crossAx val="2094734552"/>
        <c:crosses val="autoZero"/>
        <c:auto val="1"/>
        <c:lblAlgn val="ctr"/>
        <c:noMultiLvlLbl val="1"/>
      </c:catAx>
      <c:valAx>
        <c:axId val="2094734552"/>
        <c:scaling>
          <c:orientation val="minMax"/>
          <c:max val="83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C25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workload: Dependency Migration. A small FastAPI expense service was written for Pydantic 1.10. After the upgrade to Pydantic 2.12.3, it no longer starts. Today an engineer takes this ticket; here the model gets the same ticket and the same migration notes.
The model must migrate three source files to native Pydantic v2 and keep the API exactly the same: aliases, strict integer amounts, the receipt rule, per-request settings. No shortcuts: no v1 compatibility shim, no downgrade, no hard-coded responses. It also writes its own regression tests, all within 600 seconds.
Grading starts only after the model stops, offline: 39 hidden tests it has never seen, its own tests must pass, and only the four allowed files may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straight from the comparison report the GUI generated on October 21, one attempt per model: the accepted one, or the best one if none was accepted. The first four columns all run locally on the Arc GPU; only Astra is in the cloud.
GPT-6 Astra finished in 33 seconds: all 39 hidden tests, 34 tests of its own, 18 cents.
Both local 27B models also passed everything, at zero API cost: the base Qwen3.8 27B in 499 seconds, and Fable 5, a local coding distill of the same 27B, in 310. At about 7 tokens per second, most of that time is waiting on the model.
Qwen3-Coder generates four times faster, but its best run still failed one hidden check. The 8B printed status messages and changed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workload: a real security fix. The service uses PyJWT 2.3.0, which has CVE-2022-29217. An attacker takes the server's public key, uses it as an HMAC secret and signs a forged token. The library accepts it, because it blocks only four hard-coded key strings.
The model must reproduce the bug, find the HMAC key check, refuse every PEM and OpenSSH key as an HMAC secret, keep normal signing working, and write tests that fail on the old code. It may change three files and has 600 seconds. The upstream fix is never shown.
Grading on version 9: 8 hidden tests, then the model's own tests must pass on its fix and fail on the vulnerable code. On October 26 we hardened the hidden tests to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October 21 security report, one attempt per model. Green passes the corrected grader, amber was accepted only by the old one, red was never accepted.
On version 9, Astra and both local 27B models were accepted. The October 26 audit then showed the old tests could be fooled, so I re-graded these fixes against the 19 corrected tests; that row is not in the report.
Astra passes all 19, the only really secure fix, in 112 seconds for 46 cents. The base 27B scores 16 and Fable 5 scores 15: they only check how a key starts, so a key with a newline or options in front still works as an HMAC secret.
Qwen3-Coder's best run left four extra files, a policy violation. The 8B changed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workload flips the job: the code is already correct, and the model writes the tests. The targets are three URL helpers in Requests 2.31.0. Only the empty test file may change.
The model reads the behaviour contract and writes plain tests: call the real function with a concrete URL and compare it to the exact expected value. The suite must pass on today's correct code, with no stubs, skips or tricks. It gets 720 seconds.
Then the grader injects eight hidden bugs, one at a time, shown on the right: a dropped port, a lost query, credentials left in, and so on. Each bug must make one of the model's tests fail. Accepted means all eight are caught, and 9 witness tests confirm production code was not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October 21 regression report, one attempt per model. Four of the five models caught all eight bugs, and every run left production code intact.
The difference is speed. The two local 27B models, the base model and the Fable 5 distill, wrote 27 to 30 careful tests but needed 587 to 672 seconds of the 720-second budget.
Qwen3-Coder, also local and free, finished in 48 seconds with just three dense test functions, and they still caught all eight. GPT-6 Astra took 60 seconds, wrote 36 tests and cost 19 cents.
The 8B wrote three tests with wrong expected values, for example that adding a scheme strips the username and password. They failed on correct code, so nothing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417320"/>
            <a:ext cx="70408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429000"/>
            <a:ext cx="6858000" cy="13716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ph idx="102" type="body" hasCustomPrompt="1"/>
          </p:nvPr>
        </p:nvSpPr>
        <p:spPr>
          <a:xfrm>
            <a:off x="640080" y="5715000"/>
            <a:ext cx="7315200" cy="457200"/>
          </a:xfrm>
          <a:prstGeom prst="rect">
            <a:avLst/>
          </a:prstGeom>
          <a:noFill/>
          <a:ln/>
        </p:spPr>
        <p:txBody>
          <a:bodyPr wrap="square" rtlCol="0"/>
          <a:lstStyle>
            <a:lvl1pPr indent="0" marL="0">
              <a:buNone/>
              <a:defRPr lang="en-US" sz="1400" dirty="0">
                <a:solidFill>
                  <a:schemeClr val="accent2"/>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2743200" cy="1188720"/>
          </a:xfrm>
          <a:prstGeom prst="rect">
            <a:avLst/>
          </a:prstGeom>
          <a:noFill/>
          <a:ln/>
        </p:spPr>
        <p:txBody>
          <a:bodyPr wrap="square" rtlCol="0"/>
          <a:lstStyle>
            <a:lvl1pPr indent="0" marL="0">
              <a:buNone/>
              <a:defRPr lang="en-US" sz="6600" b="1" dirty="0">
                <a:solidFill>
                  <a:schemeClr val="accent2"/>
                </a:solidFill>
              </a:defRPr>
            </a:lvl1pPr>
          </a:lstStyle>
          <a:p>
            <a:pPr indent="0" marL="0">
              <a:buNone/>
            </a:pPr>
            <a:endParaRPr lang="en-US" sz="6600" dirty="0"/>
          </a:p>
        </p:txBody>
      </p:sp>
      <p:sp>
        <p:nvSpPr>
          <p:cNvPr id="3" name="Text 0"/>
          <p:cNvSpPr/>
          <p:nvPr>
            <p:ph idx="101" type="title" hasCustomPrompt="1"/>
          </p:nvPr>
        </p:nvSpPr>
        <p:spPr>
          <a:xfrm>
            <a:off x="640080" y="2834640"/>
            <a:ext cx="1060704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0080" y="3931920"/>
            <a:ext cx="932688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rtlCol="0"/>
          <a:lstStyle>
            <a:lvl1pPr indent="0" marL="0">
              <a:buNone/>
              <a:defRPr lang="en-US" sz="1200" b="1" spc="15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64240"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382512"/>
            <a:ext cx="7315200" cy="256032"/>
          </a:xfrm>
          <a:prstGeom prst="rect">
            <a:avLst/>
          </a:prstGeom>
          <a:noFill/>
          <a:ln/>
        </p:spPr>
        <p:txBody>
          <a:bodyPr wrap="square" lIns="0" tIns="0" rIns="0" bIns="0" rtlCol="0" anchor="ctr"/>
          <a:lstStyle/>
          <a:p>
            <a:pPr indent="0" marL="0">
              <a:buNone/>
            </a:pPr>
            <a:r>
              <a:rPr lang="en-US" sz="1000" dirty="0">
                <a:solidFill>
                  <a:schemeClr val="accent6"/>
                </a:solidFill>
              </a:rPr>
              <a:t>AI PC developer workflows · local vs cloud models</a:t>
            </a:r>
            <a:endParaRPr lang="en-US" sz="1000" dirty="0"/>
          </a:p>
        </p:txBody>
      </p:sp>
      <p:sp>
        <p:nvSpPr>
          <p:cNvPr id="25" name="Slide Number Placeholder 0"/>
          <p:cNvSpPr>
            <a:spLocks noGrp="1"/>
          </p:cNvSpPr>
          <p:nvPr>
            <p:ph type="sldNum" sz="quarter" idx="4294967295"/>
          </p:nvPr>
        </p:nvSpPr>
        <p:spPr>
          <a:xfrm>
            <a:off x="11109960"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4.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4.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WORKLOAD 1 OF 3 · DEPENDENCY MIGRATION · THE TASK</a:t>
            </a:r>
            <a:endParaRPr lang="en-US" sz="1200" dirty="0"/>
          </a:p>
        </p:txBody>
      </p:sp>
      <p:sp>
        <p:nvSpPr>
          <p:cNvPr id="3" name="Text 0"/>
          <p:cNvSpPr/>
          <p:nvPr>
            <p:ph idx="101"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Finish a broken Pydantic v2 upgrade, API unchanged</a:t>
            </a:r>
            <a:endParaRPr lang="en-US" sz="3000" dirty="0"/>
          </a:p>
        </p:txBody>
      </p:sp>
      <p:sp>
        <p:nvSpPr>
          <p:cNvPr id="4" name="situation-1"/>
          <p:cNvSpPr/>
          <p:nvPr/>
        </p:nvSpPr>
        <p:spPr>
          <a:xfrm>
            <a:off x="548640" y="1417320"/>
            <a:ext cx="5440680" cy="1417320"/>
          </a:xfrm>
          <a:prstGeom prst="roundRect">
            <a:avLst>
              <a:gd name="adj" fmla="val 6452"/>
            </a:avLst>
          </a:prstGeom>
          <a:solidFill>
            <a:schemeClr val="bg2"/>
          </a:solidFill>
          <a:ln/>
        </p:spPr>
      </p:sp>
      <p:sp>
        <p:nvSpPr>
          <p:cNvPr id="5" name="dot-2"/>
          <p:cNvSpPr/>
          <p:nvPr/>
        </p:nvSpPr>
        <p:spPr>
          <a:xfrm>
            <a:off x="731520" y="1572768"/>
            <a:ext cx="457200" cy="457200"/>
          </a:xfrm>
          <a:prstGeom prst="ellipse">
            <a:avLst/>
          </a:prstGeom>
          <a:solidFill>
            <a:schemeClr val="tx2"/>
          </a:solidFill>
          <a:ln/>
        </p:spPr>
      </p:sp>
      <p:pic>
        <p:nvPicPr>
          <p:cNvPr id="6" name="icon-3" descr="preencoded.png">    </p:cNvPr>
          <p:cNvPicPr>
            <a:picLocks noChangeAspect="1"/>
          </p:cNvPicPr>
          <p:nvPr/>
        </p:nvPicPr>
        <p:blipFill>
          <a:blip r:embed="rId1"/>
          <a:stretch>
            <a:fillRect/>
          </a:stretch>
        </p:blipFill>
        <p:spPr>
          <a:xfrm>
            <a:off x="841248" y="1682496"/>
            <a:ext cx="237744" cy="237744"/>
          </a:xfrm>
          <a:prstGeom prst="rect">
            <a:avLst/>
          </a:prstGeom>
        </p:spPr>
      </p:pic>
      <p:sp>
        <p:nvSpPr>
          <p:cNvPr id="7" name="text-4"/>
          <p:cNvSpPr txBox="1"/>
          <p:nvPr/>
        </p:nvSpPr>
        <p:spPr>
          <a:xfrm>
            <a:off x="1325880" y="1554480"/>
            <a:ext cx="4526280" cy="365760"/>
          </a:xfrm>
          <a:prstGeom prst="rect">
            <a:avLst/>
          </a:prstGeom>
          <a:noFill/>
          <a:ln/>
        </p:spPr>
        <p:txBody>
          <a:bodyPr wrap="square" lIns="0" tIns="0" rIns="0" bIns="0" rtlCol="0" anchor="ctr"/>
          <a:lstStyle/>
          <a:p>
            <a:pPr algn="l" indent="0" marL="0">
              <a:buNone/>
            </a:pPr>
            <a:r>
              <a:rPr lang="en-US" sz="1400" b="1" dirty="0">
                <a:solidFill>
                  <a:schemeClr val="tx1"/>
                </a:solidFill>
              </a:rPr>
              <a:t>Today: an engineer’s upgrade ticket</a:t>
            </a:r>
            <a:endParaRPr lang="en-US" sz="1400" dirty="0"/>
          </a:p>
        </p:txBody>
      </p:sp>
      <p:sp>
        <p:nvSpPr>
          <p:cNvPr id="8" name="text-5"/>
          <p:cNvSpPr txBox="1"/>
          <p:nvPr/>
        </p:nvSpPr>
        <p:spPr>
          <a:xfrm>
            <a:off x="1325880" y="1938528"/>
            <a:ext cx="4526280" cy="841248"/>
          </a:xfrm>
          <a:prstGeom prst="rect">
            <a:avLst/>
          </a:prstGeom>
          <a:noFill/>
          <a:ln/>
        </p:spPr>
        <p:txBody>
          <a:bodyPr wrap="square" lIns="0" tIns="0" rIns="0" bIns="0" rtlCol="0" anchor="t"/>
          <a:lstStyle/>
          <a:p>
            <a:pPr algn="l" indent="0" marL="0">
              <a:buNone/>
            </a:pPr>
            <a:r>
              <a:rPr lang="en-US" sz="1200" dirty="0">
                <a:solidFill>
                  <a:schemeClr val="accent6"/>
                </a:solidFill>
              </a:rPr>
              <a:t>A small expense API (FastAPI) was written for Pydantic 1.10. The dependency upgrade to Pydantic 2.12.3 broke it: startup now crashes on the legacy root_validator and the moved BaseSettings import.</a:t>
            </a:r>
            <a:endParaRPr lang="en-US" sz="1200" dirty="0"/>
          </a:p>
        </p:txBody>
      </p:sp>
      <p:sp>
        <p:nvSpPr>
          <p:cNvPr id="9" name="text-6"/>
          <p:cNvSpPr txBox="1"/>
          <p:nvPr/>
        </p:nvSpPr>
        <p:spPr>
          <a:xfrm>
            <a:off x="548640" y="2990088"/>
            <a:ext cx="5440680" cy="310896"/>
          </a:xfrm>
          <a:prstGeom prst="rect">
            <a:avLst/>
          </a:prstGeom>
          <a:noFill/>
          <a:ln/>
        </p:spPr>
        <p:txBody>
          <a:bodyPr wrap="square" lIns="0" tIns="0" rIns="0" bIns="0" rtlCol="0" anchor="ctr"/>
          <a:lstStyle/>
          <a:p>
            <a:pPr algn="l" indent="0" marL="0">
              <a:buNone/>
            </a:pPr>
            <a:r>
              <a:rPr lang="en-US" sz="1500" b="1" dirty="0">
                <a:solidFill>
                  <a:schemeClr val="accent1"/>
                </a:solidFill>
              </a:rPr>
              <a:t>What the model must solve</a:t>
            </a:r>
            <a:endParaRPr lang="en-US" sz="1500" dirty="0"/>
          </a:p>
        </p:txBody>
      </p:sp>
      <p:sp>
        <p:nvSpPr>
          <p:cNvPr id="10" name="dot-7"/>
          <p:cNvSpPr/>
          <p:nvPr/>
        </p:nvSpPr>
        <p:spPr>
          <a:xfrm>
            <a:off x="548640" y="3438144"/>
            <a:ext cx="329184" cy="329184"/>
          </a:xfrm>
          <a:prstGeom prst="ellipse">
            <a:avLst/>
          </a:prstGeom>
          <a:solidFill>
            <a:schemeClr val="accent2"/>
          </a:solidFill>
          <a:ln/>
        </p:spPr>
      </p:sp>
      <p:sp>
        <p:nvSpPr>
          <p:cNvPr id="11" name="num-8"/>
          <p:cNvSpPr txBox="1"/>
          <p:nvPr/>
        </p:nvSpPr>
        <p:spPr>
          <a:xfrm>
            <a:off x="548640" y="3438144"/>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12" name="text-9"/>
          <p:cNvSpPr txBox="1"/>
          <p:nvPr/>
        </p:nvSpPr>
        <p:spPr>
          <a:xfrm>
            <a:off x="1005840" y="3364992"/>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Diagnose  </a:t>
            </a:r>
            <a:pPr algn="l" indent="0" marL="0">
              <a:buNone/>
            </a:pPr>
            <a:r>
              <a:rPr lang="en-US" sz="1200" dirty="0">
                <a:solidFill>
                  <a:schemeClr val="accent6"/>
                </a:solidFill>
              </a:rPr>
              <a:t>run the tests, read the ticket and MIGRATION.md, find why startup fails</a:t>
            </a:r>
            <a:endParaRPr lang="en-US" sz="1200" dirty="0"/>
          </a:p>
        </p:txBody>
      </p:sp>
      <p:sp>
        <p:nvSpPr>
          <p:cNvPr id="13" name="dot-10"/>
          <p:cNvSpPr/>
          <p:nvPr/>
        </p:nvSpPr>
        <p:spPr>
          <a:xfrm>
            <a:off x="548640" y="3913632"/>
            <a:ext cx="329184" cy="329184"/>
          </a:xfrm>
          <a:prstGeom prst="ellipse">
            <a:avLst/>
          </a:prstGeom>
          <a:solidFill>
            <a:schemeClr val="accent2"/>
          </a:solidFill>
          <a:ln/>
        </p:spPr>
      </p:sp>
      <p:sp>
        <p:nvSpPr>
          <p:cNvPr id="14" name="num-11"/>
          <p:cNvSpPr txBox="1"/>
          <p:nvPr/>
        </p:nvSpPr>
        <p:spPr>
          <a:xfrm>
            <a:off x="548640" y="3913632"/>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5" name="text-12"/>
          <p:cNvSpPr txBox="1"/>
          <p:nvPr/>
        </p:nvSpPr>
        <p:spPr>
          <a:xfrm>
            <a:off x="1005840" y="3840480"/>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Migrate  </a:t>
            </a:r>
            <a:pPr algn="l" indent="0" marL="0">
              <a:buNone/>
            </a:pPr>
            <a:r>
              <a:rPr lang="en-US" sz="1200" dirty="0">
                <a:solidFill>
                  <a:schemeClr val="accent6"/>
                </a:solidFill>
              </a:rPr>
              <a:t>rewrite schemas.py, settings.py and routes.py in native Pydantic v2 (validators, ConfigDict, pydantic-settings, model_dump)</a:t>
            </a:r>
            <a:endParaRPr lang="en-US" sz="1200" dirty="0"/>
          </a:p>
        </p:txBody>
      </p:sp>
      <p:sp>
        <p:nvSpPr>
          <p:cNvPr id="16" name="dot-13"/>
          <p:cNvSpPr/>
          <p:nvPr/>
        </p:nvSpPr>
        <p:spPr>
          <a:xfrm>
            <a:off x="548640" y="4389120"/>
            <a:ext cx="329184" cy="329184"/>
          </a:xfrm>
          <a:prstGeom prst="ellipse">
            <a:avLst/>
          </a:prstGeom>
          <a:solidFill>
            <a:schemeClr val="accent2"/>
          </a:solidFill>
          <a:ln/>
        </p:spPr>
      </p:sp>
      <p:sp>
        <p:nvSpPr>
          <p:cNvPr id="17" name="num-14"/>
          <p:cNvSpPr txBox="1"/>
          <p:nvPr/>
        </p:nvSpPr>
        <p:spPr>
          <a:xfrm>
            <a:off x="548640" y="438912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8" name="text-15"/>
          <p:cNvSpPr txBox="1"/>
          <p:nvPr/>
        </p:nvSpPr>
        <p:spPr>
          <a:xfrm>
            <a:off x="1005840" y="4315968"/>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Keep the API identical  </a:t>
            </a:r>
            <a:pPr algn="l" indent="0" marL="0">
              <a:buNone/>
            </a:pPr>
            <a:r>
              <a:rPr lang="en-US" sz="1200" dirty="0">
                <a:solidFill>
                  <a:schemeClr val="accent6"/>
                </a:solidFill>
              </a:rPr>
              <a:t>aliases, strict integer amounts, the receipt rule above 10,000 cents, per-request settings reload</a:t>
            </a:r>
            <a:endParaRPr lang="en-US" sz="1200" dirty="0"/>
          </a:p>
        </p:txBody>
      </p:sp>
      <p:sp>
        <p:nvSpPr>
          <p:cNvPr id="19" name="dot-16"/>
          <p:cNvSpPr/>
          <p:nvPr/>
        </p:nvSpPr>
        <p:spPr>
          <a:xfrm>
            <a:off x="548640" y="4864608"/>
            <a:ext cx="329184" cy="329184"/>
          </a:xfrm>
          <a:prstGeom prst="ellipse">
            <a:avLst/>
          </a:prstGeom>
          <a:solidFill>
            <a:schemeClr val="accent2"/>
          </a:solidFill>
          <a:ln/>
        </p:spPr>
      </p:sp>
      <p:sp>
        <p:nvSpPr>
          <p:cNvPr id="20" name="num-17"/>
          <p:cNvSpPr txBox="1"/>
          <p:nvPr/>
        </p:nvSpPr>
        <p:spPr>
          <a:xfrm>
            <a:off x="548640" y="486460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1" name="text-18"/>
          <p:cNvSpPr txBox="1"/>
          <p:nvPr/>
        </p:nvSpPr>
        <p:spPr>
          <a:xfrm>
            <a:off x="1005840" y="4791456"/>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No shortcuts  </a:t>
            </a:r>
            <a:pPr algn="l" indent="0" marL="0">
              <a:buNone/>
            </a:pPr>
            <a:r>
              <a:rPr lang="en-US" sz="1200" dirty="0">
                <a:solidFill>
                  <a:schemeClr val="accent6"/>
                </a:solidFill>
              </a:rPr>
              <a:t>no pydantic.v1 shim, no downgrade, no hard-coded responses</a:t>
            </a:r>
            <a:endParaRPr lang="en-US" sz="1200" dirty="0"/>
          </a:p>
        </p:txBody>
      </p:sp>
      <p:sp>
        <p:nvSpPr>
          <p:cNvPr id="22" name="dot-19"/>
          <p:cNvSpPr/>
          <p:nvPr/>
        </p:nvSpPr>
        <p:spPr>
          <a:xfrm>
            <a:off x="548640" y="5340096"/>
            <a:ext cx="329184" cy="329184"/>
          </a:xfrm>
          <a:prstGeom prst="ellipse">
            <a:avLst/>
          </a:prstGeom>
          <a:solidFill>
            <a:schemeClr val="accent2"/>
          </a:solidFill>
          <a:ln/>
        </p:spPr>
      </p:sp>
      <p:sp>
        <p:nvSpPr>
          <p:cNvPr id="23" name="num-20"/>
          <p:cNvSpPr txBox="1"/>
          <p:nvPr/>
        </p:nvSpPr>
        <p:spPr>
          <a:xfrm>
            <a:off x="548640" y="534009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24" name="text-21"/>
          <p:cNvSpPr txBox="1"/>
          <p:nvPr/>
        </p:nvSpPr>
        <p:spPr>
          <a:xfrm>
            <a:off x="1005840" y="5266944"/>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Prove and submit  </a:t>
            </a:r>
            <a:pPr algn="l" indent="0" marL="0">
              <a:buNone/>
            </a:pPr>
            <a:r>
              <a:rPr lang="en-US" sz="1200" dirty="0">
                <a:solidFill>
                  <a:schemeClr val="accent6"/>
                </a:solidFill>
              </a:rPr>
              <a:t>write regression tests in tests/test_generated.py, fix failures, submit within 600 s</a:t>
            </a:r>
            <a:endParaRPr lang="en-US" sz="1200" dirty="0"/>
          </a:p>
        </p:txBody>
      </p:sp>
      <p:sp>
        <p:nvSpPr>
          <p:cNvPr id="25" name="text-22"/>
          <p:cNvSpPr txBox="1"/>
          <p:nvPr/>
        </p:nvSpPr>
        <p:spPr>
          <a:xfrm>
            <a:off x="6263640" y="1417320"/>
            <a:ext cx="5376672" cy="292608"/>
          </a:xfrm>
          <a:prstGeom prst="rect">
            <a:avLst/>
          </a:prstGeom>
          <a:noFill/>
          <a:ln/>
        </p:spPr>
        <p:txBody>
          <a:bodyPr wrap="square" lIns="0" tIns="0" rIns="0" bIns="0" rtlCol="0" anchor="ctr"/>
          <a:lstStyle/>
          <a:p>
            <a:pPr algn="l" indent="0" marL="0">
              <a:buNone/>
            </a:pPr>
            <a:r>
              <a:rPr lang="en-US" sz="1300" b="1" dirty="0">
                <a:solidFill>
                  <a:schemeClr val="accent1"/>
                </a:solidFill>
              </a:rPr>
              <a:t>What breaks, and what native v2 looks like</a:t>
            </a:r>
            <a:endParaRPr lang="en-US" sz="1300" dirty="0"/>
          </a:p>
        </p:txBody>
      </p:sp>
      <p:sp>
        <p:nvSpPr>
          <p:cNvPr id="26" name="mig-code"/>
          <p:cNvSpPr/>
          <p:nvPr/>
        </p:nvSpPr>
        <p:spPr>
          <a:xfrm>
            <a:off x="6263640" y="1783080"/>
            <a:ext cx="5376672" cy="1965960"/>
          </a:xfrm>
          <a:prstGeom prst="roundRect">
            <a:avLst>
              <a:gd name="adj" fmla="val 3721"/>
            </a:avLst>
          </a:prstGeom>
          <a:solidFill>
            <a:schemeClr val="tx2"/>
          </a:solidFill>
          <a:ln/>
        </p:spPr>
      </p:sp>
      <p:sp>
        <p:nvSpPr>
          <p:cNvPr id="27" name="code-23"/>
          <p:cNvSpPr txBox="1"/>
          <p:nvPr/>
        </p:nvSpPr>
        <p:spPr>
          <a:xfrm>
            <a:off x="6428232" y="1911096"/>
            <a:ext cx="5047488" cy="1709928"/>
          </a:xfrm>
          <a:prstGeom prst="rect">
            <a:avLst/>
          </a:prstGeom>
          <a:noFill/>
          <a:ln/>
        </p:spPr>
        <p:txBody>
          <a:bodyPr wrap="square" lIns="0" tIns="0" rIns="0" bIns="0" rtlCol="0" anchor="t"/>
          <a:lstStyle/>
          <a:p>
            <a:pPr indent="0" marL="0">
              <a:buNone/>
            </a:pPr>
            <a:r>
              <a:rPr lang="en-US" sz="1050" dirty="0">
                <a:solidFill>
                  <a:schemeClr val="accent2"/>
                </a:solidFill>
                <a:latin typeface="Consolas" pitchFamily="34" charset="0"/>
                <a:ea typeface="Consolas" pitchFamily="34" charset="-122"/>
                <a:cs typeface="Consolas" pitchFamily="34" charset="-120"/>
              </a:rPr>
              <a:t># before: Pydantic 1.10 code on 2.12.3, startup fails</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from pydantic import BaseSettings, root_validator</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class Config: orm_mode = True</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ExpenseRead.from_orm(record).dict(by_alias=True)</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 </a:t>
            </a:r>
            <a:endParaRPr lang="en-US" sz="1050" dirty="0"/>
          </a:p>
          <a:p>
            <a:pPr indent="0" marL="0">
              <a:buNone/>
            </a:pPr>
            <a:r>
              <a:rPr lang="en-US" sz="1050" dirty="0">
                <a:solidFill>
                  <a:schemeClr val="accent2"/>
                </a:solidFill>
                <a:latin typeface="Consolas" pitchFamily="34" charset="0"/>
                <a:ea typeface="Consolas" pitchFamily="34" charset="-122"/>
                <a:cs typeface="Consolas" pitchFamily="34" charset="-120"/>
              </a:rPr>
              <a:t># after: native Pydantic v2, same API contract</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from pydantic_settings import BaseSettings</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model_config = ConfigDict(from_attributes=True)</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ExpenseRead.model_validate(record).model_dump(by_alias=True)</a:t>
            </a:r>
            <a:endParaRPr lang="en-US" sz="1050" dirty="0"/>
          </a:p>
        </p:txBody>
      </p:sp>
      <p:sp>
        <p:nvSpPr>
          <p:cNvPr id="28" name="grading-24"/>
          <p:cNvSpPr/>
          <p:nvPr/>
        </p:nvSpPr>
        <p:spPr>
          <a:xfrm>
            <a:off x="6263640" y="3931920"/>
            <a:ext cx="5376672" cy="1783080"/>
          </a:xfrm>
          <a:prstGeom prst="roundRect">
            <a:avLst>
              <a:gd name="adj" fmla="val 5128"/>
            </a:avLst>
          </a:prstGeom>
          <a:solidFill>
            <a:schemeClr val="bg1"/>
          </a:solidFill>
          <a:ln w="19050">
            <a:solidFill>
              <a:schemeClr val="accent3"/>
            </a:solidFill>
            <a:prstDash val="solid"/>
          </a:ln>
        </p:spPr>
      </p:sp>
      <p:pic>
        <p:nvPicPr>
          <p:cNvPr id="29" name="icon-25" descr="preencoded.png">    </p:cNvPr>
          <p:cNvPicPr>
            <a:picLocks noChangeAspect="1"/>
          </p:cNvPicPr>
          <p:nvPr/>
        </p:nvPicPr>
        <p:blipFill>
          <a:blip r:embed="rId2"/>
          <a:stretch>
            <a:fillRect/>
          </a:stretch>
        </p:blipFill>
        <p:spPr>
          <a:xfrm>
            <a:off x="6428232" y="4059936"/>
            <a:ext cx="329184" cy="329184"/>
          </a:xfrm>
          <a:prstGeom prst="rect">
            <a:avLst/>
          </a:prstGeom>
        </p:spPr>
      </p:pic>
      <p:sp>
        <p:nvSpPr>
          <p:cNvPr id="30" name="text-26"/>
          <p:cNvSpPr txBox="1"/>
          <p:nvPr/>
        </p:nvSpPr>
        <p:spPr>
          <a:xfrm>
            <a:off x="6858000" y="4032504"/>
            <a:ext cx="4645152" cy="384048"/>
          </a:xfrm>
          <a:prstGeom prst="rect">
            <a:avLst/>
          </a:prstGeom>
          <a:noFill/>
          <a:ln/>
        </p:spPr>
        <p:txBody>
          <a:bodyPr wrap="square" lIns="0" tIns="0" rIns="0" bIns="0" rtlCol="0" anchor="ctr"/>
          <a:lstStyle/>
          <a:p>
            <a:pPr algn="l" indent="0" marL="0">
              <a:buNone/>
            </a:pPr>
            <a:r>
              <a:rPr lang="en-US" sz="1400" b="1" dirty="0">
                <a:solidFill>
                  <a:schemeClr val="tx1"/>
                </a:solidFill>
              </a:rPr>
              <a:t>How it is graded: after work stops, offline</a:t>
            </a:r>
            <a:endParaRPr lang="en-US" sz="1400" dirty="0"/>
          </a:p>
        </p:txBody>
      </p:sp>
      <p:sp>
        <p:nvSpPr>
          <p:cNvPr id="31" name="list-27"/>
          <p:cNvSpPr txBox="1"/>
          <p:nvPr/>
        </p:nvSpPr>
        <p:spPr>
          <a:xfrm>
            <a:off x="6446520" y="4498848"/>
            <a:ext cx="5029200" cy="1161288"/>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chemeClr val="tx1"/>
                </a:solidFill>
              </a:rPr>
              <a:t>39 hidden protected tests: </a:t>
            </a:r>
            <a:pPr indent="0" marL="0">
              <a:buNone/>
            </a:pPr>
            <a:r>
              <a:rPr lang="en-US" sz="1150" dirty="0">
                <a:solidFill>
                  <a:schemeClr val="tx1"/>
                </a:solidFill>
              </a:rPr>
              <a:t>the API contract plus native-v2 checks (freeze v10; 47 after the Oct 26 grader fix)</a:t>
            </a:r>
            <a:endParaRPr lang="en-US" sz="1150" dirty="0"/>
          </a:p>
          <a:p>
            <a:pPr marL="177800" indent="-177800">
              <a:spcAft>
                <a:spcPts val="300"/>
              </a:spcAft>
              <a:buSzPct val="100000"/>
              <a:buChar char="•"/>
            </a:pPr>
            <a:r>
              <a:rPr lang="en-US" sz="1150" b="1" dirty="0">
                <a:solidFill>
                  <a:schemeClr val="tx1"/>
                </a:solidFill>
              </a:rPr>
              <a:t>The model’s own tests: </a:t>
            </a:r>
            <a:pPr indent="0" marL="0">
              <a:buNone/>
            </a:pPr>
            <a:r>
              <a:rPr lang="en-US" sz="1150" dirty="0">
                <a:solidFill>
                  <a:schemeClr val="tx1"/>
                </a:solidFill>
              </a:rPr>
              <a:t>must exist, contain real assertions and pass</a:t>
            </a:r>
            <a:endParaRPr lang="en-US" sz="1150" dirty="0"/>
          </a:p>
          <a:p>
            <a:pPr marL="177800" indent="-177800">
              <a:spcAft>
                <a:spcPts val="300"/>
              </a:spcAft>
              <a:buSzPct val="100000"/>
              <a:buChar char="•"/>
            </a:pPr>
            <a:r>
              <a:rPr lang="en-US" sz="1150" b="1" dirty="0">
                <a:solidFill>
                  <a:schemeClr val="tx1"/>
                </a:solidFill>
              </a:rPr>
              <a:t>Policy: </a:t>
            </a:r>
            <a:pPr indent="0" marL="0">
              <a:buNone/>
            </a:pPr>
            <a:r>
              <a:rPr lang="en-US" sz="1150" dirty="0">
                <a:solidFill>
                  <a:schemeClr val="tx1"/>
                </a:solidFill>
              </a:rPr>
              <a:t>only the 4 allowed files may change</a:t>
            </a:r>
            <a:endParaRPr lang="en-US" sz="1150" dirty="0"/>
          </a:p>
          <a:p>
            <a:pPr marL="177800" indent="-177800">
              <a:spcAft>
                <a:spcPts val="300"/>
              </a:spcAft>
              <a:buSzPct val="100000"/>
              <a:buChar char="•"/>
            </a:pPr>
            <a:r>
              <a:rPr lang="en-US" sz="1150" b="1" dirty="0">
                <a:solidFill>
                  <a:schemeClr val="tx1"/>
                </a:solidFill>
              </a:rPr>
              <a:t>Accepted </a:t>
            </a:r>
            <a:pPr indent="0" marL="0">
              <a:buNone/>
            </a:pPr>
            <a:r>
              <a:rPr lang="en-US" sz="1150" dirty="0">
                <a:solidFill>
                  <a:schemeClr val="tx1"/>
                </a:solidFill>
              </a:rPr>
              <a:t>only if everything above holds</a:t>
            </a:r>
            <a:endParaRPr lang="en-US" sz="1150" dirty="0"/>
          </a:p>
        </p:txBody>
      </p:sp>
      <p:sp>
        <p:nvSpPr>
          <p:cNvPr id="32" name="fact-28"/>
          <p:cNvSpPr/>
          <p:nvPr/>
        </p:nvSpPr>
        <p:spPr>
          <a:xfrm>
            <a:off x="548640" y="5852160"/>
            <a:ext cx="1600200" cy="402336"/>
          </a:xfrm>
          <a:prstGeom prst="roundRect">
            <a:avLst>
              <a:gd name="adj" fmla="val 50000"/>
            </a:avLst>
          </a:prstGeom>
          <a:solidFill>
            <a:schemeClr val="bg2"/>
          </a:solidFill>
          <a:ln/>
        </p:spPr>
      </p:sp>
      <p:pic>
        <p:nvPicPr>
          <p:cNvPr id="33" name="icon-29" descr="preencoded.png">    </p:cNvPr>
          <p:cNvPicPr>
            <a:picLocks noChangeAspect="1"/>
          </p:cNvPicPr>
          <p:nvPr/>
        </p:nvPicPr>
        <p:blipFill>
          <a:blip r:embed="rId3"/>
          <a:stretch>
            <a:fillRect/>
          </a:stretch>
        </p:blipFill>
        <p:spPr>
          <a:xfrm>
            <a:off x="676656" y="5916168"/>
            <a:ext cx="274320" cy="274320"/>
          </a:xfrm>
          <a:prstGeom prst="rect">
            <a:avLst/>
          </a:prstGeom>
        </p:spPr>
      </p:pic>
      <p:sp>
        <p:nvSpPr>
          <p:cNvPr id="34" name="text-30"/>
          <p:cNvSpPr txBox="1"/>
          <p:nvPr/>
        </p:nvSpPr>
        <p:spPr>
          <a:xfrm>
            <a:off x="1024128" y="5852160"/>
            <a:ext cx="1033272" cy="402336"/>
          </a:xfrm>
          <a:prstGeom prst="rect">
            <a:avLst/>
          </a:prstGeom>
          <a:noFill/>
          <a:ln/>
        </p:spPr>
        <p:txBody>
          <a:bodyPr wrap="square" lIns="0" tIns="0" rIns="0" bIns="0" rtlCol="0" anchor="ctr"/>
          <a:lstStyle/>
          <a:p>
            <a:pPr algn="l" indent="0" marL="0">
              <a:buNone/>
            </a:pPr>
            <a:r>
              <a:rPr lang="en-US" sz="1200" dirty="0">
                <a:solidFill>
                  <a:schemeClr val="tx1"/>
                </a:solidFill>
              </a:rPr>
              <a:t>600 s budget</a:t>
            </a:r>
            <a:endParaRPr lang="en-US" sz="1200" dirty="0"/>
          </a:p>
        </p:txBody>
      </p:sp>
      <p:sp>
        <p:nvSpPr>
          <p:cNvPr id="35" name="fact-31"/>
          <p:cNvSpPr/>
          <p:nvPr/>
        </p:nvSpPr>
        <p:spPr>
          <a:xfrm>
            <a:off x="2331720" y="5852160"/>
            <a:ext cx="6812280" cy="402336"/>
          </a:xfrm>
          <a:prstGeom prst="roundRect">
            <a:avLst>
              <a:gd name="adj" fmla="val 50000"/>
            </a:avLst>
          </a:prstGeom>
          <a:solidFill>
            <a:schemeClr val="bg2"/>
          </a:solidFill>
          <a:ln/>
        </p:spPr>
      </p:sp>
      <p:pic>
        <p:nvPicPr>
          <p:cNvPr id="36" name="icon-32" descr="preencoded.png">    </p:cNvPr>
          <p:cNvPicPr>
            <a:picLocks noChangeAspect="1"/>
          </p:cNvPicPr>
          <p:nvPr/>
        </p:nvPicPr>
        <p:blipFill>
          <a:blip r:embed="rId4"/>
          <a:stretch>
            <a:fillRect/>
          </a:stretch>
        </p:blipFill>
        <p:spPr>
          <a:xfrm>
            <a:off x="2459736" y="5916168"/>
            <a:ext cx="274320" cy="274320"/>
          </a:xfrm>
          <a:prstGeom prst="rect">
            <a:avLst/>
          </a:prstGeom>
        </p:spPr>
      </p:pic>
      <p:sp>
        <p:nvSpPr>
          <p:cNvPr id="37" name="text-33"/>
          <p:cNvSpPr txBox="1"/>
          <p:nvPr/>
        </p:nvSpPr>
        <p:spPr>
          <a:xfrm>
            <a:off x="2807208" y="5852160"/>
            <a:ext cx="6245352" cy="402336"/>
          </a:xfrm>
          <a:prstGeom prst="rect">
            <a:avLst/>
          </a:prstGeom>
          <a:noFill/>
          <a:ln/>
        </p:spPr>
        <p:txBody>
          <a:bodyPr wrap="square" lIns="0" tIns="0" rIns="0" bIns="0" rtlCol="0" anchor="ctr"/>
          <a:lstStyle/>
          <a:p>
            <a:pPr algn="l" indent="0" marL="0">
              <a:buNone/>
            </a:pPr>
            <a:r>
              <a:rPr lang="en-US" sz="1200" dirty="0">
                <a:solidFill>
                  <a:schemeClr val="tx1"/>
                </a:solidFill>
              </a:rPr>
              <a:t>May edit: app/schemas.py · app/settings.py · app/routes.py · tests/test_generated.py</a:t>
            </a:r>
            <a:endParaRPr lang="en-US" sz="1200" dirty="0"/>
          </a:p>
        </p:txBody>
      </p:sp>
      <p:sp>
        <p:nvSpPr>
          <p:cNvPr id="38" name="fact-34"/>
          <p:cNvSpPr/>
          <p:nvPr/>
        </p:nvSpPr>
        <p:spPr>
          <a:xfrm>
            <a:off x="9326880" y="5852160"/>
            <a:ext cx="2313432" cy="402336"/>
          </a:xfrm>
          <a:prstGeom prst="roundRect">
            <a:avLst>
              <a:gd name="adj" fmla="val 50000"/>
            </a:avLst>
          </a:prstGeom>
          <a:solidFill>
            <a:schemeClr val="bg2"/>
          </a:solidFill>
          <a:ln/>
        </p:spPr>
      </p:sp>
      <p:pic>
        <p:nvPicPr>
          <p:cNvPr id="39" name="icon-35" descr="preencoded.png">    </p:cNvPr>
          <p:cNvPicPr>
            <a:picLocks noChangeAspect="1"/>
          </p:cNvPicPr>
          <p:nvPr/>
        </p:nvPicPr>
        <p:blipFill>
          <a:blip r:embed="rId5"/>
          <a:stretch>
            <a:fillRect/>
          </a:stretch>
        </p:blipFill>
        <p:spPr>
          <a:xfrm>
            <a:off x="9454896" y="5916168"/>
            <a:ext cx="274320" cy="274320"/>
          </a:xfrm>
          <a:prstGeom prst="rect">
            <a:avLst/>
          </a:prstGeom>
        </p:spPr>
      </p:pic>
      <p:sp>
        <p:nvSpPr>
          <p:cNvPr id="40" name="text-36"/>
          <p:cNvSpPr txBox="1"/>
          <p:nvPr/>
        </p:nvSpPr>
        <p:spPr>
          <a:xfrm>
            <a:off x="9802368" y="5852160"/>
            <a:ext cx="1746504" cy="402336"/>
          </a:xfrm>
          <a:prstGeom prst="rect">
            <a:avLst/>
          </a:prstGeom>
          <a:noFill/>
          <a:ln/>
        </p:spPr>
        <p:txBody>
          <a:bodyPr wrap="square" lIns="0" tIns="0" rIns="0" bIns="0" rtlCol="0" anchor="ctr"/>
          <a:lstStyle/>
          <a:p>
            <a:pPr algn="l" indent="0" marL="0">
              <a:buNone/>
            </a:pPr>
            <a:r>
              <a:rPr lang="en-US" sz="1200" dirty="0">
                <a:solidFill>
                  <a:schemeClr val="tx1"/>
                </a:solidFill>
              </a:rPr>
              <a:t>Offline container</a:t>
            </a:r>
            <a:endParaRPr lang="en-US" sz="1200" dirty="0"/>
          </a:p>
        </p:txBody>
      </p:sp>
      <p:sp>
        <p:nvSpPr>
          <p:cNvPr id="25" name="Slide Number Placeholder 0"/>
          <p:cNvSpPr>
            <a:spLocks noGrp="1"/>
          </p:cNvSpPr>
          <p:nvPr>
            <p:ph type="sldNum" sz="quarter" idx="4294967295"/>
          </p:nvPr>
        </p:nvSpPr>
        <p:spPr>
          <a:xfrm>
            <a:off x="11109960"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WORKLOAD 1 OF 3 · DEPENDENCY MIGRATION · MODEL COMPARISON</a:t>
            </a:r>
            <a:endParaRPr lang="en-US" sz="1200" dirty="0"/>
          </a:p>
        </p:txBody>
      </p:sp>
      <p:sp>
        <p:nvSpPr>
          <p:cNvPr id="3" name="Text 0"/>
          <p:cNvSpPr/>
          <p:nvPr>
            <p:ph idx="101"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Astra migrated it in 33 s; both local 27B models also passed</a:t>
            </a:r>
            <a:endParaRPr lang="en-US" sz="3000" dirty="0"/>
          </a:p>
        </p:txBody>
      </p:sp>
      <p:sp>
        <p:nvSpPr>
          <p:cNvPr id="4" name="chart-frame-37"/>
          <p:cNvSpPr/>
          <p:nvPr/>
        </p:nvSpPr>
        <p:spPr>
          <a:xfrm>
            <a:off x="548640" y="1417320"/>
            <a:ext cx="4572000" cy="3429000"/>
          </a:xfrm>
          <a:prstGeom prst="roundRect">
            <a:avLst>
              <a:gd name="adj" fmla="val 2667"/>
            </a:avLst>
          </a:prstGeom>
          <a:solidFill>
            <a:schemeClr val="bg1"/>
          </a:solidFill>
          <a:ln w="12700">
            <a:solidFill>
              <a:srgbClr val="D3DBE5"/>
            </a:solidFill>
            <a:prstDash val="solid"/>
          </a:ln>
        </p:spPr>
      </p:sp>
      <p:graphicFrame>
        <p:nvGraphicFramePr>
          <p:cNvPr id="5" name="chart-38" descr=""/>
          <p:cNvGraphicFramePr/>
          <p:nvPr/>
        </p:nvGraphicFramePr>
        <p:xfrm>
          <a:off x="603504" y="1463040"/>
          <a:ext cx="4462272"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3" name="table-39"/>
          <p:cNvGraphicFramePr>
            <a:graphicFrameLocks noGrp="1"/>
          </p:cNvGraphicFramePr>
          <p:nvPr>
            <p:extLst>
              <p:ext uri="{D42A27DB-BD31-4B8C-83A1-F6EECF244321}">
                <p14:modId xmlns:p14="http://schemas.microsoft.com/office/powerpoint/2010/main" val="1579011935"/>
              </p:ext>
            </p:extLst>
          </p:nvPr>
        </p:nvGraphicFramePr>
        <p:xfrm>
          <a:off x="5303520" y="1417320"/>
          <a:ext cx="6336792" cy="914400"/>
        </p:xfrm>
        <a:graphic>
          <a:graphicData uri="http://schemas.openxmlformats.org/drawingml/2006/table">
            <a:tbl>
              <a:tblPr/>
              <a:tblGrid>
                <a:gridCol w="1444752"/>
                <a:gridCol w="978408"/>
                <a:gridCol w="978408"/>
                <a:gridCol w="978408"/>
                <a:gridCol w="978408"/>
                <a:gridCol w="978408"/>
              </a:tblGrid>
              <a:tr h="274320">
                <a:tc>
                  <a:txBody>
                    <a:bodyPr/>
                    <a:lstStyle/>
                    <a:p>
                      <a:pPr algn="l" indent="0" marL="0">
                        <a:buNone/>
                      </a:pPr>
                      <a:endParaRPr lang="en-US" sz="120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bg1"/>
                    </a:solidFill>
                  </a:tcPr>
                </a:tc>
                <a:tc gridSpan="4">
                  <a:txBody>
                    <a:bodyPr/>
                    <a:lstStyle/>
                    <a:p>
                      <a:pPr algn="ctr" indent="0" marL="0">
                        <a:buNone/>
                      </a:pPr>
                      <a:r>
                        <a:rPr lang="en-US" sz="1000" b="1" dirty="0">
                          <a:solidFill>
                            <a:schemeClr val="bg1"/>
                          </a:solidFill>
                        </a:rPr>
                        <a:t>LOCAL · Intel Arc B390 GPU · $0 API fee</a:t>
                      </a:r>
                      <a:endParaRPr lang="en-US" sz="1000" dirty="0"/>
                    </a:p>
                  </a:txBody>
                  <a:tcPr marL="36576" marR="36576" marT="18288" marB="18288"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tx2"/>
                    </a:solidFill>
                  </a:tcPr>
                </a:tc>
                <a:tc hMerge="1">
                  <a:tcPr/>
                </a:tc>
                <a:tc hMerge="1">
                  <a:tcPr/>
                </a:tc>
                <a:tc hMerge="1">
                  <a:tcPr/>
                </a:tc>
                <a:tc>
                  <a:txBody>
                    <a:bodyPr/>
                    <a:lstStyle/>
                    <a:p>
                      <a:pPr algn="ctr" indent="0" marL="0">
                        <a:buNone/>
                      </a:pPr>
                      <a:r>
                        <a:rPr lang="en-US" sz="1000" b="1" dirty="0">
                          <a:solidFill>
                            <a:schemeClr val="bg1"/>
                          </a:solidFill>
                        </a:rPr>
                        <a:t>CLOUD</a:t>
                      </a:r>
                      <a:endParaRPr lang="en-US" sz="1000" dirty="0"/>
                    </a:p>
                  </a:txBody>
                  <a:tcPr marL="36576" marR="36576" marT="18288" marB="18288"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tx2"/>
                    </a:solidFill>
                  </a:tcPr>
                </a:tc>
              </a:tr>
              <a:tr h="502920">
                <a:tc>
                  <a:txBody>
                    <a:bodyPr/>
                    <a:lstStyle/>
                    <a:p>
                      <a:pPr algn="l" indent="0" marL="0">
                        <a:buNone/>
                      </a:pPr>
                      <a:endParaRPr lang="en-US" sz="120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Qwen3.8 27B</a:t>
                      </a:r>
                      <a:endParaRPr lang="en-US" sz="1200" dirty="0"/>
                    </a:p>
                    <a:p>
                      <a:pPr algn="ctr" indent="0" marL="0">
                        <a:buNone/>
                      </a:pPr>
                      <a:r>
                        <a:rPr lang="en-US" sz="850" dirty="0">
                          <a:solidFill>
                            <a:schemeClr val="bg1"/>
                          </a:solidFill>
                        </a:rPr>
                        <a:t>base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Qwen3.8 27B</a:t>
                      </a:r>
                      <a:endParaRPr lang="en-US" sz="1200" dirty="0"/>
                    </a:p>
                    <a:p>
                      <a:pPr algn="ctr" indent="0" marL="0">
                        <a:buNone/>
                      </a:pPr>
                      <a:r>
                        <a:rPr lang="en-US" sz="850" dirty="0">
                          <a:solidFill>
                            <a:schemeClr val="bg1"/>
                          </a:solidFill>
                        </a:rPr>
                        <a:t>Fable 5 distill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Qwen3-Coder</a:t>
                      </a:r>
                      <a:endParaRPr lang="en-US" sz="1200" dirty="0"/>
                    </a:p>
                    <a:p>
                      <a:pPr algn="ctr" indent="0" marL="0">
                        <a:buNone/>
                      </a:pPr>
                      <a:r>
                        <a:rPr lang="en-US" sz="850" dirty="0">
                          <a:solidFill>
                            <a:schemeClr val="bg1"/>
                          </a:solidFill>
                        </a:rPr>
                        <a:t>30B-A3B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 8B</a:t>
                      </a:r>
                      <a:endParaRPr lang="en-US" sz="1200" dirty="0"/>
                    </a:p>
                    <a:p>
                      <a:pPr algn="ctr" indent="0" marL="0">
                        <a:buNone/>
                      </a:pPr>
                      <a:r>
                        <a:rPr lang="en-US" sz="850" dirty="0">
                          <a:solidFill>
                            <a:schemeClr val="bg1"/>
                          </a:solidFill>
                        </a:rPr>
                        <a:t>INT8</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GPT-6 Astra</a:t>
                      </a:r>
                      <a:endParaRPr lang="en-US" sz="1200" dirty="0"/>
                    </a:p>
                    <a:p>
                      <a:pPr algn="ctr" indent="0" marL="0">
                        <a:buNone/>
                      </a:pPr>
                      <a:r>
                        <a:rPr lang="en-US" sz="850" dirty="0">
                          <a:solidFill>
                            <a:schemeClr val="bg1"/>
                          </a:solidFill>
                        </a:rPr>
                        <a:t>OpenAI API</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5"/>
                    </a:solidFill>
                  </a:tcPr>
                </a:tc>
              </a:tr>
              <a:tr h="365760">
                <a:tc>
                  <a:txBody>
                    <a:bodyPr/>
                    <a:lstStyle/>
                    <a:p>
                      <a:pPr algn="l" indent="0" marL="0">
                        <a:buNone/>
                      </a:pPr>
                      <a:r>
                        <a:rPr lang="en-US" sz="1050" b="1" dirty="0">
                          <a:solidFill>
                            <a:schemeClr val="accent6"/>
                          </a:solidFill>
                        </a:rPr>
                        <a:t>Outcome</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4"/>
                          </a:solidFill>
                        </a:rPr>
                        <a:t>1 test failed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4"/>
                          </a:solidFill>
                        </a:rPr>
                        <a:t>No tests</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65760">
                <a:tc>
                  <a:txBody>
                    <a:bodyPr/>
                    <a:lstStyle/>
                    <a:p>
                      <a:pPr algn="l" indent="0" marL="0">
                        <a:buNone/>
                      </a:pPr>
                      <a:r>
                        <a:rPr lang="en-US" sz="1050" b="1" dirty="0">
                          <a:solidFill>
                            <a:schemeClr val="accent6"/>
                          </a:solidFill>
                        </a:rPr>
                        <a:t>Hidden tests, of 39</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 (crash)</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65760">
                <a:tc>
                  <a:txBody>
                    <a:bodyPr/>
                    <a:lstStyle/>
                    <a:p>
                      <a:pPr algn="l" indent="0" marL="0">
                        <a:buNone/>
                      </a:pPr>
                      <a:r>
                        <a:rPr lang="en-US" sz="1050" b="1" dirty="0">
                          <a:solidFill>
                            <a:schemeClr val="accent6"/>
                          </a:solidFill>
                        </a:rPr>
                        <a:t>Own tests passing</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13 / 13</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9 / 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 / 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none</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34 / 34</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65760">
                <a:tc>
                  <a:txBody>
                    <a:bodyPr/>
                    <a:lstStyle/>
                    <a:p>
                      <a:pPr algn="l" indent="0" marL="0">
                        <a:buNone/>
                      </a:pPr>
                      <a:r>
                        <a:rPr lang="en-US" sz="1050" b="1" dirty="0">
                          <a:solidFill>
                            <a:schemeClr val="accent6"/>
                          </a:solidFill>
                        </a:rPr>
                        <a:t>Output tokens/s</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6.8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7.2</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27.9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8.5</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70.9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65760">
                <a:tc>
                  <a:txBody>
                    <a:bodyPr/>
                    <a:lstStyle/>
                    <a:p>
                      <a:pPr algn="l" indent="0" marL="0">
                        <a:buNone/>
                      </a:pPr>
                      <a:r>
                        <a:rPr lang="en-US" sz="1050" b="1" dirty="0">
                          <a:solidFill>
                            <a:schemeClr val="accent6"/>
                          </a:solidFill>
                        </a:rPr>
                        <a:t>API fee</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$0.18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bl>
          </a:graphicData>
        </a:graphic>
      </p:graphicFrame>
      <p:sp>
        <p:nvSpPr>
          <p:cNvPr id="7" name="text-40"/>
          <p:cNvSpPr txBox="1"/>
          <p:nvPr/>
        </p:nvSpPr>
        <p:spPr>
          <a:xfrm>
            <a:off x="5303520" y="4096512"/>
            <a:ext cx="6336792" cy="749808"/>
          </a:xfrm>
          <a:prstGeom prst="rect">
            <a:avLst/>
          </a:prstGeom>
          <a:noFill/>
          <a:ln/>
        </p:spPr>
        <p:txBody>
          <a:bodyPr wrap="square" lIns="0" tIns="0" rIns="0" bIns="0" rtlCol="0" anchor="t"/>
          <a:lstStyle/>
          <a:p>
            <a:pPr algn="l" indent="0" marL="0">
              <a:buNone/>
            </a:pPr>
            <a:r>
              <a:rPr lang="en-US" sz="1000" i="1" dirty="0">
                <a:solidFill>
                  <a:schemeClr val="accent6"/>
                </a:solidFill>
              </a:rPr>
              <a:t>Source: dependency-migration/artifacts/comparison-report-20261021-115041.md · freeze v10 · 600 s · one Intel PTL laptop · unscored pilots. One attempt per model: the accepted one, else the best (Qwen3-Coder: best of 2). Fable 5 is a local Qwen3.8 27B coding distill on the Arc GPU, not a cloud model.</a:t>
            </a:r>
            <a:endParaRPr lang="en-US" sz="1000" dirty="0"/>
          </a:p>
        </p:txBody>
      </p:sp>
      <p:sp>
        <p:nvSpPr>
          <p:cNvPr id="8" name="take-41"/>
          <p:cNvSpPr/>
          <p:nvPr/>
        </p:nvSpPr>
        <p:spPr>
          <a:xfrm>
            <a:off x="548640" y="5029200"/>
            <a:ext cx="3538728" cy="1207008"/>
          </a:xfrm>
          <a:prstGeom prst="roundRect">
            <a:avLst>
              <a:gd name="adj" fmla="val 7576"/>
            </a:avLst>
          </a:prstGeom>
          <a:solidFill>
            <a:schemeClr val="bg2"/>
          </a:solidFill>
          <a:ln/>
        </p:spPr>
      </p:sp>
      <p:sp>
        <p:nvSpPr>
          <p:cNvPr id="9" name="dot-42"/>
          <p:cNvSpPr/>
          <p:nvPr/>
        </p:nvSpPr>
        <p:spPr>
          <a:xfrm>
            <a:off x="713232" y="5175504"/>
            <a:ext cx="384048" cy="384048"/>
          </a:xfrm>
          <a:prstGeom prst="ellipse">
            <a:avLst/>
          </a:prstGeom>
          <a:solidFill>
            <a:schemeClr val="accent5"/>
          </a:solidFill>
          <a:ln/>
        </p:spPr>
      </p:sp>
      <p:pic>
        <p:nvPicPr>
          <p:cNvPr id="10" name="icon-43" descr="preencoded.png">    </p:cNvPr>
          <p:cNvPicPr>
            <a:picLocks noChangeAspect="1"/>
          </p:cNvPicPr>
          <p:nvPr/>
        </p:nvPicPr>
        <p:blipFill>
          <a:blip r:embed="rId2"/>
          <a:stretch>
            <a:fillRect/>
          </a:stretch>
        </p:blipFill>
        <p:spPr>
          <a:xfrm>
            <a:off x="805404" y="5267676"/>
            <a:ext cx="199705" cy="199705"/>
          </a:xfrm>
          <a:prstGeom prst="rect">
            <a:avLst/>
          </a:prstGeom>
        </p:spPr>
      </p:pic>
      <p:sp>
        <p:nvSpPr>
          <p:cNvPr id="11" name="text-44"/>
          <p:cNvSpPr txBox="1"/>
          <p:nvPr/>
        </p:nvSpPr>
        <p:spPr>
          <a:xfrm>
            <a:off x="1188720"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Astra: done in 33 s</a:t>
            </a:r>
            <a:endParaRPr lang="en-US" sz="1400" dirty="0"/>
          </a:p>
        </p:txBody>
      </p:sp>
      <p:sp>
        <p:nvSpPr>
          <p:cNvPr id="12" name="text-45"/>
          <p:cNvSpPr txBox="1"/>
          <p:nvPr/>
        </p:nvSpPr>
        <p:spPr>
          <a:xfrm>
            <a:off x="713232"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Passed all 39 hidden tests and wrote 34 of its own, for $0.18. Replies streamed at about 71 tokens/s.</a:t>
            </a:r>
            <a:endParaRPr lang="en-US" sz="1100" dirty="0"/>
          </a:p>
        </p:txBody>
      </p:sp>
      <p:sp>
        <p:nvSpPr>
          <p:cNvPr id="13" name="take-46"/>
          <p:cNvSpPr/>
          <p:nvPr/>
        </p:nvSpPr>
        <p:spPr>
          <a:xfrm>
            <a:off x="4325112" y="5029200"/>
            <a:ext cx="3538728" cy="1207008"/>
          </a:xfrm>
          <a:prstGeom prst="roundRect">
            <a:avLst>
              <a:gd name="adj" fmla="val 7576"/>
            </a:avLst>
          </a:prstGeom>
          <a:solidFill>
            <a:schemeClr val="bg2"/>
          </a:solidFill>
          <a:ln/>
        </p:spPr>
      </p:sp>
      <p:sp>
        <p:nvSpPr>
          <p:cNvPr id="14" name="dot-47"/>
          <p:cNvSpPr/>
          <p:nvPr/>
        </p:nvSpPr>
        <p:spPr>
          <a:xfrm>
            <a:off x="4489704" y="5175504"/>
            <a:ext cx="384048" cy="384048"/>
          </a:xfrm>
          <a:prstGeom prst="ellipse">
            <a:avLst/>
          </a:prstGeom>
          <a:solidFill>
            <a:schemeClr val="accent1"/>
          </a:solidFill>
          <a:ln/>
        </p:spPr>
      </p:sp>
      <p:pic>
        <p:nvPicPr>
          <p:cNvPr id="15" name="icon-48" descr="preencoded.png">    </p:cNvPr>
          <p:cNvPicPr>
            <a:picLocks noChangeAspect="1"/>
          </p:cNvPicPr>
          <p:nvPr/>
        </p:nvPicPr>
        <p:blipFill>
          <a:blip r:embed="rId3"/>
          <a:stretch>
            <a:fillRect/>
          </a:stretch>
        </p:blipFill>
        <p:spPr>
          <a:xfrm>
            <a:off x="4581876" y="5267676"/>
            <a:ext cx="199705" cy="199705"/>
          </a:xfrm>
          <a:prstGeom prst="rect">
            <a:avLst/>
          </a:prstGeom>
        </p:spPr>
      </p:pic>
      <p:sp>
        <p:nvSpPr>
          <p:cNvPr id="16" name="text-49"/>
          <p:cNvSpPr txBox="1"/>
          <p:nvPr/>
        </p:nvSpPr>
        <p:spPr>
          <a:xfrm>
            <a:off x="4965192"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Both local 27B models passed</a:t>
            </a:r>
            <a:endParaRPr lang="en-US" sz="1400" dirty="0"/>
          </a:p>
        </p:txBody>
      </p:sp>
      <p:sp>
        <p:nvSpPr>
          <p:cNvPr id="17" name="text-50"/>
          <p:cNvSpPr txBox="1"/>
          <p:nvPr/>
        </p:nvSpPr>
        <p:spPr>
          <a:xfrm>
            <a:off x="4489704"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Base Qwen3.8 27B (499 s) and its Fable 5 distill (310 s), both on the local Arc GPU, passed all 39 at ~7 tokens/s, for $0.</a:t>
            </a:r>
            <a:endParaRPr lang="en-US" sz="1100" dirty="0"/>
          </a:p>
        </p:txBody>
      </p:sp>
      <p:sp>
        <p:nvSpPr>
          <p:cNvPr id="18" name="take-51"/>
          <p:cNvSpPr/>
          <p:nvPr/>
        </p:nvSpPr>
        <p:spPr>
          <a:xfrm>
            <a:off x="8101584" y="5029200"/>
            <a:ext cx="3538728" cy="1207008"/>
          </a:xfrm>
          <a:prstGeom prst="roundRect">
            <a:avLst>
              <a:gd name="adj" fmla="val 7576"/>
            </a:avLst>
          </a:prstGeom>
          <a:solidFill>
            <a:schemeClr val="bg2"/>
          </a:solidFill>
          <a:ln/>
        </p:spPr>
      </p:sp>
      <p:sp>
        <p:nvSpPr>
          <p:cNvPr id="19" name="dot-52"/>
          <p:cNvSpPr/>
          <p:nvPr/>
        </p:nvSpPr>
        <p:spPr>
          <a:xfrm>
            <a:off x="8266176" y="5175504"/>
            <a:ext cx="384048" cy="384048"/>
          </a:xfrm>
          <a:prstGeom prst="ellipse">
            <a:avLst/>
          </a:prstGeom>
          <a:solidFill>
            <a:schemeClr val="accent4"/>
          </a:solidFill>
          <a:ln/>
        </p:spPr>
      </p:sp>
      <p:pic>
        <p:nvPicPr>
          <p:cNvPr id="20" name="icon-53" descr="preencoded.png">    </p:cNvPr>
          <p:cNvPicPr>
            <a:picLocks noChangeAspect="1"/>
          </p:cNvPicPr>
          <p:nvPr/>
        </p:nvPicPr>
        <p:blipFill>
          <a:blip r:embed="rId4"/>
          <a:stretch>
            <a:fillRect/>
          </a:stretch>
        </p:blipFill>
        <p:spPr>
          <a:xfrm>
            <a:off x="8358348" y="5267676"/>
            <a:ext cx="199705" cy="199705"/>
          </a:xfrm>
          <a:prstGeom prst="rect">
            <a:avLst/>
          </a:prstGeom>
        </p:spPr>
      </p:pic>
      <p:sp>
        <p:nvSpPr>
          <p:cNvPr id="21" name="text-54"/>
          <p:cNvSpPr txBox="1"/>
          <p:nvPr/>
        </p:nvSpPr>
        <p:spPr>
          <a:xfrm>
            <a:off x="8741664"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Coder and 8B fell short</a:t>
            </a:r>
            <a:endParaRPr lang="en-US" sz="1400" dirty="0"/>
          </a:p>
        </p:txBody>
      </p:sp>
      <p:sp>
        <p:nvSpPr>
          <p:cNvPr id="22" name="text-55"/>
          <p:cNvSpPr txBox="1"/>
          <p:nvPr/>
        </p:nvSpPr>
        <p:spPr>
          <a:xfrm>
            <a:off x="8266176"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Coder’s best run missed one native-v2 check (38/39) despite ~4× faster tokens. 8B printed status messages and changed nothing.</a:t>
            </a:r>
            <a:endParaRPr lang="en-US" sz="1100" dirty="0"/>
          </a:p>
        </p:txBody>
      </p:sp>
      <p:sp>
        <p:nvSpPr>
          <p:cNvPr id="25" name="Slide Number Placeholder 0"/>
          <p:cNvSpPr>
            <a:spLocks noGrp="1"/>
          </p:cNvSpPr>
          <p:nvPr>
            <p:ph type="sldNum" sz="quarter" idx="4294967295"/>
          </p:nvPr>
        </p:nvSpPr>
        <p:spPr>
          <a:xfrm>
            <a:off x="11109960"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WORKLOAD 2 OF 3 · SECURITY REPAIR · THE TASK</a:t>
            </a:r>
            <a:endParaRPr lang="en-US" sz="1200" dirty="0"/>
          </a:p>
        </p:txBody>
      </p:sp>
      <p:sp>
        <p:nvSpPr>
          <p:cNvPr id="3" name="Text 0"/>
          <p:cNvSpPr/>
          <p:nvPr>
            <p:ph idx="101"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Backport the PyJWT CVE-2022-29217 security fix</a:t>
            </a:r>
            <a:endParaRPr lang="en-US" sz="3000" dirty="0"/>
          </a:p>
        </p:txBody>
      </p:sp>
      <p:sp>
        <p:nvSpPr>
          <p:cNvPr id="4" name="situation-56"/>
          <p:cNvSpPr/>
          <p:nvPr/>
        </p:nvSpPr>
        <p:spPr>
          <a:xfrm>
            <a:off x="548640" y="1417320"/>
            <a:ext cx="5440680" cy="1417320"/>
          </a:xfrm>
          <a:prstGeom prst="roundRect">
            <a:avLst>
              <a:gd name="adj" fmla="val 6452"/>
            </a:avLst>
          </a:prstGeom>
          <a:solidFill>
            <a:schemeClr val="bg2"/>
          </a:solidFill>
          <a:ln/>
        </p:spPr>
      </p:sp>
      <p:sp>
        <p:nvSpPr>
          <p:cNvPr id="5" name="dot-57"/>
          <p:cNvSpPr/>
          <p:nvPr/>
        </p:nvSpPr>
        <p:spPr>
          <a:xfrm>
            <a:off x="731520" y="1572768"/>
            <a:ext cx="457200" cy="457200"/>
          </a:xfrm>
          <a:prstGeom prst="ellipse">
            <a:avLst/>
          </a:prstGeom>
          <a:solidFill>
            <a:schemeClr val="tx2"/>
          </a:solidFill>
          <a:ln/>
        </p:spPr>
      </p:sp>
      <p:pic>
        <p:nvPicPr>
          <p:cNvPr id="6" name="icon-58" descr="preencoded.png">    </p:cNvPr>
          <p:cNvPicPr>
            <a:picLocks noChangeAspect="1"/>
          </p:cNvPicPr>
          <p:nvPr/>
        </p:nvPicPr>
        <p:blipFill>
          <a:blip r:embed="rId1"/>
          <a:stretch>
            <a:fillRect/>
          </a:stretch>
        </p:blipFill>
        <p:spPr>
          <a:xfrm>
            <a:off x="841248" y="1682496"/>
            <a:ext cx="237744" cy="237744"/>
          </a:xfrm>
          <a:prstGeom prst="rect">
            <a:avLst/>
          </a:prstGeom>
        </p:spPr>
      </p:pic>
      <p:sp>
        <p:nvSpPr>
          <p:cNvPr id="7" name="text-59"/>
          <p:cNvSpPr txBox="1"/>
          <p:nvPr/>
        </p:nvSpPr>
        <p:spPr>
          <a:xfrm>
            <a:off x="1325880" y="1554480"/>
            <a:ext cx="4526280" cy="365760"/>
          </a:xfrm>
          <a:prstGeom prst="rect">
            <a:avLst/>
          </a:prstGeom>
          <a:noFill/>
          <a:ln/>
        </p:spPr>
        <p:txBody>
          <a:bodyPr wrap="square" lIns="0" tIns="0" rIns="0" bIns="0" rtlCol="0" anchor="ctr"/>
          <a:lstStyle/>
          <a:p>
            <a:pPr algn="l" indent="0" marL="0">
              <a:buNone/>
            </a:pPr>
            <a:r>
              <a:rPr lang="en-US" sz="1400" b="1" dirty="0">
                <a:solidFill>
                  <a:schemeClr val="tx1"/>
                </a:solidFill>
              </a:rPr>
              <a:t>Today: an engineer’s CVE backport</a:t>
            </a:r>
            <a:endParaRPr lang="en-US" sz="1400" dirty="0"/>
          </a:p>
        </p:txBody>
      </p:sp>
      <p:sp>
        <p:nvSpPr>
          <p:cNvPr id="8" name="text-60"/>
          <p:cNvSpPr txBox="1"/>
          <p:nvPr/>
        </p:nvSpPr>
        <p:spPr>
          <a:xfrm>
            <a:off x="1325880" y="1938528"/>
            <a:ext cx="4526280" cy="841248"/>
          </a:xfrm>
          <a:prstGeom prst="rect">
            <a:avLst/>
          </a:prstGeom>
          <a:noFill/>
          <a:ln/>
        </p:spPr>
        <p:txBody>
          <a:bodyPr wrap="square" lIns="0" tIns="0" rIns="0" bIns="0" rtlCol="0" anchor="t"/>
          <a:lstStyle/>
          <a:p>
            <a:pPr algn="l" indent="0" marL="0">
              <a:buNone/>
            </a:pPr>
            <a:r>
              <a:rPr lang="en-US" sz="1200" dirty="0">
                <a:solidFill>
                  <a:schemeClr val="accent6"/>
                </a:solidFill>
              </a:rPr>
              <a:t>The service pins PyJWT 2.3.0, which lets a server’s public key be used as an HMAC secret to forge tokens. An engineer would backport the upstream fix; the model gets the ticket, a reproducer and visible tests, never the fix.</a:t>
            </a:r>
            <a:endParaRPr lang="en-US" sz="1200" dirty="0"/>
          </a:p>
        </p:txBody>
      </p:sp>
      <p:sp>
        <p:nvSpPr>
          <p:cNvPr id="9" name="text-61"/>
          <p:cNvSpPr txBox="1"/>
          <p:nvPr/>
        </p:nvSpPr>
        <p:spPr>
          <a:xfrm>
            <a:off x="548640" y="2990088"/>
            <a:ext cx="5440680" cy="310896"/>
          </a:xfrm>
          <a:prstGeom prst="rect">
            <a:avLst/>
          </a:prstGeom>
          <a:noFill/>
          <a:ln/>
        </p:spPr>
        <p:txBody>
          <a:bodyPr wrap="square" lIns="0" tIns="0" rIns="0" bIns="0" rtlCol="0" anchor="ctr"/>
          <a:lstStyle/>
          <a:p>
            <a:pPr algn="l" indent="0" marL="0">
              <a:buNone/>
            </a:pPr>
            <a:r>
              <a:rPr lang="en-US" sz="1500" b="1" dirty="0">
                <a:solidFill>
                  <a:schemeClr val="accent1"/>
                </a:solidFill>
              </a:rPr>
              <a:t>What the model must solve</a:t>
            </a:r>
            <a:endParaRPr lang="en-US" sz="1500" dirty="0"/>
          </a:p>
        </p:txBody>
      </p:sp>
      <p:sp>
        <p:nvSpPr>
          <p:cNvPr id="10" name="dot-62"/>
          <p:cNvSpPr/>
          <p:nvPr/>
        </p:nvSpPr>
        <p:spPr>
          <a:xfrm>
            <a:off x="548640" y="3438144"/>
            <a:ext cx="329184" cy="329184"/>
          </a:xfrm>
          <a:prstGeom prst="ellipse">
            <a:avLst/>
          </a:prstGeom>
          <a:solidFill>
            <a:schemeClr val="accent2"/>
          </a:solidFill>
          <a:ln/>
        </p:spPr>
      </p:sp>
      <p:sp>
        <p:nvSpPr>
          <p:cNvPr id="11" name="num-63"/>
          <p:cNvSpPr txBox="1"/>
          <p:nvPr/>
        </p:nvSpPr>
        <p:spPr>
          <a:xfrm>
            <a:off x="548640" y="3438144"/>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12" name="text-64"/>
          <p:cNvSpPr txBox="1"/>
          <p:nvPr/>
        </p:nvSpPr>
        <p:spPr>
          <a:xfrm>
            <a:off x="1005840" y="3364992"/>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Reproduce  </a:t>
            </a:r>
            <a:pPr algn="l" indent="0" marL="0">
              <a:buNone/>
            </a:pPr>
            <a:r>
              <a:rPr lang="en-US" sz="1200" dirty="0">
                <a:solidFill>
                  <a:schemeClr val="accent6"/>
                </a:solidFill>
              </a:rPr>
              <a:t>reproducer.py prints “VULNERABLE: forged HS256 token accepted”</a:t>
            </a:r>
            <a:endParaRPr lang="en-US" sz="1200" dirty="0"/>
          </a:p>
        </p:txBody>
      </p:sp>
      <p:sp>
        <p:nvSpPr>
          <p:cNvPr id="13" name="dot-65"/>
          <p:cNvSpPr/>
          <p:nvPr/>
        </p:nvSpPr>
        <p:spPr>
          <a:xfrm>
            <a:off x="548640" y="3913632"/>
            <a:ext cx="329184" cy="329184"/>
          </a:xfrm>
          <a:prstGeom prst="ellipse">
            <a:avLst/>
          </a:prstGeom>
          <a:solidFill>
            <a:schemeClr val="accent2"/>
          </a:solidFill>
          <a:ln/>
        </p:spPr>
      </p:sp>
      <p:sp>
        <p:nvSpPr>
          <p:cNvPr id="14" name="num-66"/>
          <p:cNvSpPr txBox="1"/>
          <p:nvPr/>
        </p:nvSpPr>
        <p:spPr>
          <a:xfrm>
            <a:off x="548640" y="3913632"/>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5" name="text-67"/>
          <p:cNvSpPr txBox="1"/>
          <p:nvPr/>
        </p:nvSpPr>
        <p:spPr>
          <a:xfrm>
            <a:off x="1005840" y="3840480"/>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Locate  </a:t>
            </a:r>
            <a:pPr algn="l" indent="0" marL="0">
              <a:buNone/>
            </a:pPr>
            <a:r>
              <a:rPr lang="en-US" sz="1200" dirty="0">
                <a:solidFill>
                  <a:schemeClr val="accent6"/>
                </a:solidFill>
              </a:rPr>
              <a:t>the HMAC prepare_key in jwt/algorithms.py blocks only 4 key strings</a:t>
            </a:r>
            <a:endParaRPr lang="en-US" sz="1200" dirty="0"/>
          </a:p>
        </p:txBody>
      </p:sp>
      <p:sp>
        <p:nvSpPr>
          <p:cNvPr id="16" name="dot-68"/>
          <p:cNvSpPr/>
          <p:nvPr/>
        </p:nvSpPr>
        <p:spPr>
          <a:xfrm>
            <a:off x="548640" y="4389120"/>
            <a:ext cx="329184" cy="329184"/>
          </a:xfrm>
          <a:prstGeom prst="ellipse">
            <a:avLst/>
          </a:prstGeom>
          <a:solidFill>
            <a:schemeClr val="accent2"/>
          </a:solidFill>
          <a:ln/>
        </p:spPr>
      </p:sp>
      <p:sp>
        <p:nvSpPr>
          <p:cNvPr id="17" name="num-69"/>
          <p:cNvSpPr txBox="1"/>
          <p:nvPr/>
        </p:nvSpPr>
        <p:spPr>
          <a:xfrm>
            <a:off x="548640" y="438912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8" name="text-70"/>
          <p:cNvSpPr txBox="1"/>
          <p:nvPr/>
        </p:nvSpPr>
        <p:spPr>
          <a:xfrm>
            <a:off x="1005840" y="4315968"/>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Patch  </a:t>
            </a:r>
            <a:pPr algn="l" indent="0" marL="0">
              <a:buNone/>
            </a:pPr>
            <a:r>
              <a:rPr lang="en-US" sz="1200" dirty="0">
                <a:solidFill>
                  <a:schemeClr val="accent6"/>
                </a:solidFill>
              </a:rPr>
              <a:t>refuse every PEM and OpenSSH asymmetric key as an HMAC secret; invalid EdDSA keys raise InvalidKeyError</a:t>
            </a:r>
            <a:endParaRPr lang="en-US" sz="1200" dirty="0"/>
          </a:p>
        </p:txBody>
      </p:sp>
      <p:sp>
        <p:nvSpPr>
          <p:cNvPr id="19" name="dot-71"/>
          <p:cNvSpPr/>
          <p:nvPr/>
        </p:nvSpPr>
        <p:spPr>
          <a:xfrm>
            <a:off x="548640" y="4864608"/>
            <a:ext cx="329184" cy="329184"/>
          </a:xfrm>
          <a:prstGeom prst="ellipse">
            <a:avLst/>
          </a:prstGeom>
          <a:solidFill>
            <a:schemeClr val="accent2"/>
          </a:solidFill>
          <a:ln/>
        </p:spPr>
      </p:sp>
      <p:sp>
        <p:nvSpPr>
          <p:cNvPr id="20" name="num-72"/>
          <p:cNvSpPr txBox="1"/>
          <p:nvPr/>
        </p:nvSpPr>
        <p:spPr>
          <a:xfrm>
            <a:off x="548640" y="486460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1" name="text-73"/>
          <p:cNvSpPr txBox="1"/>
          <p:nvPr/>
        </p:nvSpPr>
        <p:spPr>
          <a:xfrm>
            <a:off x="1005840" y="4791456"/>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Keep it working  </a:t>
            </a:r>
            <a:pPr algn="l" indent="0" marL="0">
              <a:buNone/>
            </a:pPr>
            <a:r>
              <a:rPr lang="en-US" sz="1200" dirty="0">
                <a:solidFill>
                  <a:schemeClr val="accent6"/>
                </a:solidFill>
              </a:rPr>
              <a:t>normal HMAC secrets and RSA, ECDSA and EdDSA signatures must still verify</a:t>
            </a:r>
            <a:endParaRPr lang="en-US" sz="1200" dirty="0"/>
          </a:p>
        </p:txBody>
      </p:sp>
      <p:sp>
        <p:nvSpPr>
          <p:cNvPr id="22" name="dot-74"/>
          <p:cNvSpPr/>
          <p:nvPr/>
        </p:nvSpPr>
        <p:spPr>
          <a:xfrm>
            <a:off x="548640" y="5340096"/>
            <a:ext cx="329184" cy="329184"/>
          </a:xfrm>
          <a:prstGeom prst="ellipse">
            <a:avLst/>
          </a:prstGeom>
          <a:solidFill>
            <a:schemeClr val="accent2"/>
          </a:solidFill>
          <a:ln/>
        </p:spPr>
      </p:sp>
      <p:sp>
        <p:nvSpPr>
          <p:cNvPr id="23" name="num-75"/>
          <p:cNvSpPr txBox="1"/>
          <p:nvPr/>
        </p:nvSpPr>
        <p:spPr>
          <a:xfrm>
            <a:off x="548640" y="534009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24" name="text-76"/>
          <p:cNvSpPr txBox="1"/>
          <p:nvPr/>
        </p:nvSpPr>
        <p:spPr>
          <a:xfrm>
            <a:off x="1005840" y="5266944"/>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Prove and submit  </a:t>
            </a:r>
            <a:pPr algn="l" indent="0" marL="0">
              <a:buNone/>
            </a:pPr>
            <a:r>
              <a:rPr lang="en-US" sz="1200" dirty="0">
                <a:solidFill>
                  <a:schemeClr val="accent6"/>
                </a:solidFill>
              </a:rPr>
              <a:t>add tests that fail on the old code; submit within 600 s</a:t>
            </a:r>
            <a:endParaRPr lang="en-US" sz="1200" dirty="0"/>
          </a:p>
        </p:txBody>
      </p:sp>
      <p:sp>
        <p:nvSpPr>
          <p:cNvPr id="25" name="text-77"/>
          <p:cNvSpPr txBox="1"/>
          <p:nvPr/>
        </p:nvSpPr>
        <p:spPr>
          <a:xfrm>
            <a:off x="6263640" y="1417320"/>
            <a:ext cx="5376672" cy="292608"/>
          </a:xfrm>
          <a:prstGeom prst="rect">
            <a:avLst/>
          </a:prstGeom>
          <a:noFill/>
          <a:ln/>
        </p:spPr>
        <p:txBody>
          <a:bodyPr wrap="square" lIns="0" tIns="0" rIns="0" bIns="0" rtlCol="0" anchor="ctr"/>
          <a:lstStyle/>
          <a:p>
            <a:pPr algn="l" indent="0" marL="0">
              <a:buNone/>
            </a:pPr>
            <a:r>
              <a:rPr lang="en-US" sz="1300" b="1" dirty="0">
                <a:solidFill>
                  <a:schemeClr val="accent1"/>
                </a:solidFill>
              </a:rPr>
              <a:t>The bug: a public key accepted as an HMAC secret</a:t>
            </a:r>
            <a:endParaRPr lang="en-US" sz="1300" dirty="0"/>
          </a:p>
        </p:txBody>
      </p:sp>
      <p:sp>
        <p:nvSpPr>
          <p:cNvPr id="26" name="attack-78"/>
          <p:cNvSpPr/>
          <p:nvPr/>
        </p:nvSpPr>
        <p:spPr>
          <a:xfrm>
            <a:off x="6263640" y="1783080"/>
            <a:ext cx="1621536" cy="960120"/>
          </a:xfrm>
          <a:prstGeom prst="roundRect">
            <a:avLst>
              <a:gd name="adj" fmla="val 9524"/>
            </a:avLst>
          </a:prstGeom>
          <a:solidFill>
            <a:schemeClr val="bg2"/>
          </a:solidFill>
          <a:ln/>
        </p:spPr>
      </p:sp>
      <p:sp>
        <p:nvSpPr>
          <p:cNvPr id="27" name="dot-79"/>
          <p:cNvSpPr/>
          <p:nvPr/>
        </p:nvSpPr>
        <p:spPr>
          <a:xfrm>
            <a:off x="6373368" y="1892808"/>
            <a:ext cx="365760" cy="365760"/>
          </a:xfrm>
          <a:prstGeom prst="ellipse">
            <a:avLst/>
          </a:prstGeom>
          <a:solidFill>
            <a:schemeClr val="accent4"/>
          </a:solidFill>
          <a:ln/>
        </p:spPr>
      </p:sp>
      <p:pic>
        <p:nvPicPr>
          <p:cNvPr id="28" name="icon-80" descr="preencoded.png">    </p:cNvPr>
          <p:cNvPicPr>
            <a:picLocks noChangeAspect="1"/>
          </p:cNvPicPr>
          <p:nvPr/>
        </p:nvPicPr>
        <p:blipFill>
          <a:blip r:embed="rId2"/>
          <a:stretch>
            <a:fillRect/>
          </a:stretch>
        </p:blipFill>
        <p:spPr>
          <a:xfrm>
            <a:off x="6461150" y="1980590"/>
            <a:ext cx="190195" cy="190195"/>
          </a:xfrm>
          <a:prstGeom prst="rect">
            <a:avLst/>
          </a:prstGeom>
        </p:spPr>
      </p:pic>
      <p:sp>
        <p:nvSpPr>
          <p:cNvPr id="29" name="text-81"/>
          <p:cNvSpPr txBox="1"/>
          <p:nvPr/>
        </p:nvSpPr>
        <p:spPr>
          <a:xfrm>
            <a:off x="6812280" y="1856232"/>
            <a:ext cx="999744" cy="457200"/>
          </a:xfrm>
          <a:prstGeom prst="rect">
            <a:avLst/>
          </a:prstGeom>
          <a:noFill/>
          <a:ln/>
        </p:spPr>
        <p:txBody>
          <a:bodyPr wrap="square" lIns="0" tIns="0" rIns="0" bIns="0" rtlCol="0" anchor="ctr"/>
          <a:lstStyle/>
          <a:p>
            <a:pPr algn="l" indent="0" marL="0">
              <a:buNone/>
            </a:pPr>
            <a:r>
              <a:rPr lang="en-US" sz="1150" b="1" dirty="0">
                <a:solidFill>
                  <a:schemeClr val="tx1"/>
                </a:solidFill>
              </a:rPr>
              <a:t>Attacker copies the public key</a:t>
            </a:r>
            <a:endParaRPr lang="en-US" sz="1150" dirty="0"/>
          </a:p>
        </p:txBody>
      </p:sp>
      <p:sp>
        <p:nvSpPr>
          <p:cNvPr id="30" name="text-82"/>
          <p:cNvSpPr txBox="1"/>
          <p:nvPr/>
        </p:nvSpPr>
        <p:spPr>
          <a:xfrm>
            <a:off x="6373368" y="2331720"/>
            <a:ext cx="1420368" cy="384048"/>
          </a:xfrm>
          <a:prstGeom prst="rect">
            <a:avLst/>
          </a:prstGeom>
          <a:noFill/>
          <a:ln/>
        </p:spPr>
        <p:txBody>
          <a:bodyPr wrap="square" lIns="0" tIns="0" rIns="0" bIns="0" rtlCol="0" anchor="t"/>
          <a:lstStyle/>
          <a:p>
            <a:pPr algn="l" indent="0" marL="0">
              <a:buNone/>
            </a:pPr>
            <a:r>
              <a:rPr lang="en-US" sz="1050" dirty="0">
                <a:solidFill>
                  <a:schemeClr val="accent6"/>
                </a:solidFill>
              </a:rPr>
              <a:t>e.g. ssh-ed25519 AAAA…</a:t>
            </a:r>
            <a:endParaRPr lang="en-US" sz="1050" dirty="0"/>
          </a:p>
        </p:txBody>
      </p:sp>
      <p:sp>
        <p:nvSpPr>
          <p:cNvPr id="31" name="arrow-83"/>
          <p:cNvSpPr/>
          <p:nvPr/>
        </p:nvSpPr>
        <p:spPr>
          <a:xfrm>
            <a:off x="7912608" y="2263140"/>
            <a:ext cx="201168" cy="0"/>
          </a:xfrm>
          <a:prstGeom prst="line">
            <a:avLst/>
          </a:prstGeom>
          <a:noFill/>
          <a:ln w="22225">
            <a:solidFill>
              <a:schemeClr val="tx1"/>
            </a:solidFill>
            <a:prstDash val="solid"/>
            <a:tailEnd type="triangle"/>
          </a:ln>
        </p:spPr>
      </p:sp>
      <p:sp>
        <p:nvSpPr>
          <p:cNvPr id="32" name="attack-84"/>
          <p:cNvSpPr/>
          <p:nvPr/>
        </p:nvSpPr>
        <p:spPr>
          <a:xfrm>
            <a:off x="8141208" y="1783080"/>
            <a:ext cx="1621536" cy="960120"/>
          </a:xfrm>
          <a:prstGeom prst="roundRect">
            <a:avLst>
              <a:gd name="adj" fmla="val 9524"/>
            </a:avLst>
          </a:prstGeom>
          <a:solidFill>
            <a:schemeClr val="bg2"/>
          </a:solidFill>
          <a:ln/>
        </p:spPr>
      </p:sp>
      <p:sp>
        <p:nvSpPr>
          <p:cNvPr id="33" name="dot-85"/>
          <p:cNvSpPr/>
          <p:nvPr/>
        </p:nvSpPr>
        <p:spPr>
          <a:xfrm>
            <a:off x="8250936" y="1892808"/>
            <a:ext cx="365760" cy="365760"/>
          </a:xfrm>
          <a:prstGeom prst="ellipse">
            <a:avLst/>
          </a:prstGeom>
          <a:solidFill>
            <a:schemeClr val="accent4"/>
          </a:solidFill>
          <a:ln/>
        </p:spPr>
      </p:sp>
      <p:pic>
        <p:nvPicPr>
          <p:cNvPr id="34" name="icon-86" descr="preencoded.png">    </p:cNvPr>
          <p:cNvPicPr>
            <a:picLocks noChangeAspect="1"/>
          </p:cNvPicPr>
          <p:nvPr/>
        </p:nvPicPr>
        <p:blipFill>
          <a:blip r:embed="rId3"/>
          <a:stretch>
            <a:fillRect/>
          </a:stretch>
        </p:blipFill>
        <p:spPr>
          <a:xfrm>
            <a:off x="8338718" y="1980590"/>
            <a:ext cx="190195" cy="190195"/>
          </a:xfrm>
          <a:prstGeom prst="rect">
            <a:avLst/>
          </a:prstGeom>
        </p:spPr>
      </p:pic>
      <p:sp>
        <p:nvSpPr>
          <p:cNvPr id="35" name="text-87"/>
          <p:cNvSpPr txBox="1"/>
          <p:nvPr/>
        </p:nvSpPr>
        <p:spPr>
          <a:xfrm>
            <a:off x="8689848" y="1856232"/>
            <a:ext cx="999744" cy="457200"/>
          </a:xfrm>
          <a:prstGeom prst="rect">
            <a:avLst/>
          </a:prstGeom>
          <a:noFill/>
          <a:ln/>
        </p:spPr>
        <p:txBody>
          <a:bodyPr wrap="square" lIns="0" tIns="0" rIns="0" bIns="0" rtlCol="0" anchor="ctr"/>
          <a:lstStyle/>
          <a:p>
            <a:pPr algn="l" indent="0" marL="0">
              <a:buNone/>
            </a:pPr>
            <a:r>
              <a:rPr lang="en-US" sz="1150" b="1" dirty="0">
                <a:solidFill>
                  <a:schemeClr val="tx1"/>
                </a:solidFill>
              </a:rPr>
              <a:t>Signs a token as HS256</a:t>
            </a:r>
            <a:endParaRPr lang="en-US" sz="1150" dirty="0"/>
          </a:p>
        </p:txBody>
      </p:sp>
      <p:sp>
        <p:nvSpPr>
          <p:cNvPr id="36" name="text-88"/>
          <p:cNvSpPr txBox="1"/>
          <p:nvPr/>
        </p:nvSpPr>
        <p:spPr>
          <a:xfrm>
            <a:off x="8250936" y="2331720"/>
            <a:ext cx="1420368" cy="384048"/>
          </a:xfrm>
          <a:prstGeom prst="rect">
            <a:avLst/>
          </a:prstGeom>
          <a:noFill/>
          <a:ln/>
        </p:spPr>
        <p:txBody>
          <a:bodyPr wrap="square" lIns="0" tIns="0" rIns="0" bIns="0" rtlCol="0" anchor="t"/>
          <a:lstStyle/>
          <a:p>
            <a:pPr algn="l" indent="0" marL="0">
              <a:buNone/>
            </a:pPr>
            <a:r>
              <a:rPr lang="en-US" sz="1050" dirty="0">
                <a:solidFill>
                  <a:schemeClr val="accent6"/>
                </a:solidFill>
              </a:rPr>
              <a:t>with the key bytes as the HMAC secret</a:t>
            </a:r>
            <a:endParaRPr lang="en-US" sz="1050" dirty="0"/>
          </a:p>
        </p:txBody>
      </p:sp>
      <p:sp>
        <p:nvSpPr>
          <p:cNvPr id="37" name="arrow-89"/>
          <p:cNvSpPr/>
          <p:nvPr/>
        </p:nvSpPr>
        <p:spPr>
          <a:xfrm>
            <a:off x="9790176" y="2263140"/>
            <a:ext cx="201168" cy="0"/>
          </a:xfrm>
          <a:prstGeom prst="line">
            <a:avLst/>
          </a:prstGeom>
          <a:noFill/>
          <a:ln w="22225">
            <a:solidFill>
              <a:schemeClr val="tx1"/>
            </a:solidFill>
            <a:prstDash val="solid"/>
            <a:tailEnd type="triangle"/>
          </a:ln>
        </p:spPr>
      </p:sp>
      <p:sp>
        <p:nvSpPr>
          <p:cNvPr id="38" name="attack-90"/>
          <p:cNvSpPr/>
          <p:nvPr/>
        </p:nvSpPr>
        <p:spPr>
          <a:xfrm>
            <a:off x="10018776" y="1783080"/>
            <a:ext cx="1621536" cy="960120"/>
          </a:xfrm>
          <a:prstGeom prst="roundRect">
            <a:avLst>
              <a:gd name="adj" fmla="val 9524"/>
            </a:avLst>
          </a:prstGeom>
          <a:solidFill>
            <a:schemeClr val="bg2"/>
          </a:solidFill>
          <a:ln/>
        </p:spPr>
      </p:sp>
      <p:sp>
        <p:nvSpPr>
          <p:cNvPr id="39" name="dot-91"/>
          <p:cNvSpPr/>
          <p:nvPr/>
        </p:nvSpPr>
        <p:spPr>
          <a:xfrm>
            <a:off x="10128504" y="1892808"/>
            <a:ext cx="365760" cy="365760"/>
          </a:xfrm>
          <a:prstGeom prst="ellipse">
            <a:avLst/>
          </a:prstGeom>
          <a:solidFill>
            <a:schemeClr val="tx2"/>
          </a:solidFill>
          <a:ln/>
        </p:spPr>
      </p:sp>
      <p:pic>
        <p:nvPicPr>
          <p:cNvPr id="40" name="icon-92" descr="preencoded.png">    </p:cNvPr>
          <p:cNvPicPr>
            <a:picLocks noChangeAspect="1"/>
          </p:cNvPicPr>
          <p:nvPr/>
        </p:nvPicPr>
        <p:blipFill>
          <a:blip r:embed="rId4"/>
          <a:stretch>
            <a:fillRect/>
          </a:stretch>
        </p:blipFill>
        <p:spPr>
          <a:xfrm>
            <a:off x="10216286" y="1980590"/>
            <a:ext cx="190195" cy="190195"/>
          </a:xfrm>
          <a:prstGeom prst="rect">
            <a:avLst/>
          </a:prstGeom>
        </p:spPr>
      </p:pic>
      <p:sp>
        <p:nvSpPr>
          <p:cNvPr id="41" name="text-93"/>
          <p:cNvSpPr txBox="1"/>
          <p:nvPr/>
        </p:nvSpPr>
        <p:spPr>
          <a:xfrm>
            <a:off x="10567416" y="1856232"/>
            <a:ext cx="999744" cy="457200"/>
          </a:xfrm>
          <a:prstGeom prst="rect">
            <a:avLst/>
          </a:prstGeom>
          <a:noFill/>
          <a:ln/>
        </p:spPr>
        <p:txBody>
          <a:bodyPr wrap="square" lIns="0" tIns="0" rIns="0" bIns="0" rtlCol="0" anchor="ctr"/>
          <a:lstStyle/>
          <a:p>
            <a:pPr algn="l" indent="0" marL="0">
              <a:buNone/>
            </a:pPr>
            <a:r>
              <a:rPr lang="en-US" sz="1150" b="1" dirty="0">
                <a:solidFill>
                  <a:schemeClr val="tx1"/>
                </a:solidFill>
              </a:rPr>
              <a:t>PyJWT 2.3.0 accepts it</a:t>
            </a:r>
            <a:endParaRPr lang="en-US" sz="1150" dirty="0"/>
          </a:p>
        </p:txBody>
      </p:sp>
      <p:sp>
        <p:nvSpPr>
          <p:cNvPr id="42" name="text-94"/>
          <p:cNvSpPr txBox="1"/>
          <p:nvPr/>
        </p:nvSpPr>
        <p:spPr>
          <a:xfrm>
            <a:off x="10128504" y="2331720"/>
            <a:ext cx="1420368" cy="384048"/>
          </a:xfrm>
          <a:prstGeom prst="rect">
            <a:avLst/>
          </a:prstGeom>
          <a:noFill/>
          <a:ln/>
        </p:spPr>
        <p:txBody>
          <a:bodyPr wrap="square" lIns="0" tIns="0" rIns="0" bIns="0" rtlCol="0" anchor="t"/>
          <a:lstStyle/>
          <a:p>
            <a:pPr algn="l" indent="0" marL="0">
              <a:buNone/>
            </a:pPr>
            <a:r>
              <a:rPr lang="en-US" sz="1050" dirty="0">
                <a:solidFill>
                  <a:schemeClr val="accent6"/>
                </a:solidFill>
              </a:rPr>
              <a:t>when HS256 and EdDSA are both allowed</a:t>
            </a:r>
            <a:endParaRPr lang="en-US" sz="1050" dirty="0"/>
          </a:p>
        </p:txBody>
      </p:sp>
      <p:sp>
        <p:nvSpPr>
          <p:cNvPr id="43" name="sec-code"/>
          <p:cNvSpPr/>
          <p:nvPr/>
        </p:nvSpPr>
        <p:spPr>
          <a:xfrm>
            <a:off x="6263640" y="2862072"/>
            <a:ext cx="5376672" cy="886968"/>
          </a:xfrm>
          <a:prstGeom prst="roundRect">
            <a:avLst>
              <a:gd name="adj" fmla="val 8247"/>
            </a:avLst>
          </a:prstGeom>
          <a:solidFill>
            <a:schemeClr val="tx2"/>
          </a:solidFill>
          <a:ln/>
        </p:spPr>
      </p:sp>
      <p:sp>
        <p:nvSpPr>
          <p:cNvPr id="44" name="code-95"/>
          <p:cNvSpPr txBox="1"/>
          <p:nvPr/>
        </p:nvSpPr>
        <p:spPr>
          <a:xfrm>
            <a:off x="6428232" y="2990088"/>
            <a:ext cx="5047488" cy="630936"/>
          </a:xfrm>
          <a:prstGeom prst="rect">
            <a:avLst/>
          </a:prstGeom>
          <a:noFill/>
          <a:ln/>
        </p:spPr>
        <p:txBody>
          <a:bodyPr wrap="square" lIns="0" tIns="0" rIns="0" bIns="0" rtlCol="0" anchor="t"/>
          <a:lstStyle/>
          <a:p>
            <a:pPr indent="0" marL="0">
              <a:buNone/>
            </a:pPr>
            <a:r>
              <a:rPr lang="en-US" sz="1050" dirty="0">
                <a:solidFill>
                  <a:schemeClr val="accent2"/>
                </a:solidFill>
                <a:latin typeface="Consolas" pitchFamily="34" charset="0"/>
                <a:ea typeface="Consolas" pitchFamily="34" charset="-122"/>
                <a:cs typeface="Consolas" pitchFamily="34" charset="-120"/>
              </a:rPr>
              <a:t># PyJWT 2.3.0: only 4 hard-coded strings are blocked</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if any(s in key for s in invalid_strings): ...</a:t>
            </a:r>
            <a:endParaRPr lang="en-US" sz="1050" dirty="0"/>
          </a:p>
          <a:p>
            <a:pPr indent="0" marL="0">
              <a:buNone/>
            </a:pPr>
            <a:r>
              <a:rPr lang="en-US" sz="1050" dirty="0">
                <a:solidFill>
                  <a:schemeClr val="accent2"/>
                </a:solidFill>
                <a:latin typeface="Consolas" pitchFamily="34" charset="0"/>
                <a:ea typeface="Consolas" pitchFamily="34" charset="-122"/>
                <a:cs typeface="Consolas" pitchFamily="34" charset="-120"/>
              </a:rPr>
              <a:t># fix: refuse every PEM and OpenSSH asymmetric key</a:t>
            </a:r>
            <a:endParaRPr lang="en-US" sz="1050" dirty="0"/>
          </a:p>
          <a:p>
            <a:pPr indent="0" marL="0">
              <a:buNone/>
            </a:pPr>
            <a:r>
              <a:rPr lang="en-US" sz="1050" dirty="0">
                <a:solidFill>
                  <a:schemeClr val="bg1"/>
                </a:solidFill>
                <a:latin typeface="Consolas" pitchFamily="34" charset="0"/>
                <a:ea typeface="Consolas" pitchFamily="34" charset="-122"/>
                <a:cs typeface="Consolas" pitchFamily="34" charset="-120"/>
              </a:rPr>
              <a:t>if is_pem_format(key) or is_ssh_key(key): raise ...</a:t>
            </a:r>
            <a:endParaRPr lang="en-US" sz="1050" dirty="0"/>
          </a:p>
        </p:txBody>
      </p:sp>
      <p:sp>
        <p:nvSpPr>
          <p:cNvPr id="45" name="grading-96"/>
          <p:cNvSpPr/>
          <p:nvPr/>
        </p:nvSpPr>
        <p:spPr>
          <a:xfrm>
            <a:off x="6263640" y="3931920"/>
            <a:ext cx="5376672" cy="1783080"/>
          </a:xfrm>
          <a:prstGeom prst="roundRect">
            <a:avLst>
              <a:gd name="adj" fmla="val 5128"/>
            </a:avLst>
          </a:prstGeom>
          <a:solidFill>
            <a:schemeClr val="bg1"/>
          </a:solidFill>
          <a:ln w="19050">
            <a:solidFill>
              <a:schemeClr val="accent3"/>
            </a:solidFill>
            <a:prstDash val="solid"/>
          </a:ln>
        </p:spPr>
      </p:sp>
      <p:pic>
        <p:nvPicPr>
          <p:cNvPr id="46" name="icon-97" descr="preencoded.png">    </p:cNvPr>
          <p:cNvPicPr>
            <a:picLocks noChangeAspect="1"/>
          </p:cNvPicPr>
          <p:nvPr/>
        </p:nvPicPr>
        <p:blipFill>
          <a:blip r:embed="rId5"/>
          <a:stretch>
            <a:fillRect/>
          </a:stretch>
        </p:blipFill>
        <p:spPr>
          <a:xfrm>
            <a:off x="6428232" y="4059936"/>
            <a:ext cx="329184" cy="329184"/>
          </a:xfrm>
          <a:prstGeom prst="rect">
            <a:avLst/>
          </a:prstGeom>
        </p:spPr>
      </p:pic>
      <p:sp>
        <p:nvSpPr>
          <p:cNvPr id="47" name="text-98"/>
          <p:cNvSpPr txBox="1"/>
          <p:nvPr/>
        </p:nvSpPr>
        <p:spPr>
          <a:xfrm>
            <a:off x="6858000" y="4032504"/>
            <a:ext cx="4645152" cy="384048"/>
          </a:xfrm>
          <a:prstGeom prst="rect">
            <a:avLst/>
          </a:prstGeom>
          <a:noFill/>
          <a:ln/>
        </p:spPr>
        <p:txBody>
          <a:bodyPr wrap="square" lIns="0" tIns="0" rIns="0" bIns="0" rtlCol="0" anchor="ctr"/>
          <a:lstStyle/>
          <a:p>
            <a:pPr algn="l" indent="0" marL="0">
              <a:buNone/>
            </a:pPr>
            <a:r>
              <a:rPr lang="en-US" sz="1400" b="1" dirty="0">
                <a:solidFill>
                  <a:schemeClr val="tx1"/>
                </a:solidFill>
              </a:rPr>
              <a:t>How it is graded: after work stops, offline</a:t>
            </a:r>
            <a:endParaRPr lang="en-US" sz="1400" dirty="0"/>
          </a:p>
        </p:txBody>
      </p:sp>
      <p:sp>
        <p:nvSpPr>
          <p:cNvPr id="48" name="list-99"/>
          <p:cNvSpPr txBox="1"/>
          <p:nvPr/>
        </p:nvSpPr>
        <p:spPr>
          <a:xfrm>
            <a:off x="6446520" y="4498848"/>
            <a:ext cx="5029200" cy="1161288"/>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chemeClr val="tx1"/>
                </a:solidFill>
              </a:rPr>
              <a:t>8 hidden protected tests: </a:t>
            </a:r>
            <a:pPr indent="0" marL="0">
              <a:buNone/>
            </a:pPr>
            <a:r>
              <a:rPr lang="en-US" sz="1150" dirty="0">
                <a:solidFill>
                  <a:schemeClr val="tx1"/>
                </a:solidFill>
              </a:rPr>
              <a:t>5 security + 3 compatibility (freeze v9); the corrected Oct 26 grader has 19</a:t>
            </a:r>
            <a:endParaRPr lang="en-US" sz="1150" dirty="0"/>
          </a:p>
          <a:p>
            <a:pPr marL="177800" indent="-177800">
              <a:spcAft>
                <a:spcPts val="300"/>
              </a:spcAft>
              <a:buSzPct val="100000"/>
              <a:buChar char="•"/>
            </a:pPr>
            <a:r>
              <a:rPr lang="en-US" sz="1150" b="1" dirty="0">
                <a:solidFill>
                  <a:schemeClr val="tx1"/>
                </a:solidFill>
              </a:rPr>
              <a:t>The model’s own tests: </a:t>
            </a:r>
            <a:pPr indent="0" marL="0">
              <a:buNone/>
            </a:pPr>
            <a:r>
              <a:rPr lang="en-US" sz="1150" dirty="0">
                <a:solidFill>
                  <a:schemeClr val="tx1"/>
                </a:solidFill>
              </a:rPr>
              <a:t>must pass on its fix…</a:t>
            </a:r>
            <a:endParaRPr lang="en-US" sz="1150" dirty="0"/>
          </a:p>
          <a:p>
            <a:pPr marL="177800" indent="-177800">
              <a:spcAft>
                <a:spcPts val="300"/>
              </a:spcAft>
              <a:buSzPct val="100000"/>
              <a:buChar char="•"/>
            </a:pPr>
            <a:r>
              <a:rPr lang="en-US" sz="1150" b="1" dirty="0">
                <a:solidFill>
                  <a:schemeClr val="tx1"/>
                </a:solidFill>
              </a:rPr>
              <a:t>Negative control: </a:t>
            </a:r>
            <a:pPr indent="0" marL="0">
              <a:buNone/>
            </a:pPr>
            <a:r>
              <a:rPr lang="en-US" sz="1150" dirty="0">
                <a:solidFill>
                  <a:schemeClr val="tx1"/>
                </a:solidFill>
              </a:rPr>
              <a:t>…and fail on the original vulnerable code</a:t>
            </a:r>
            <a:endParaRPr lang="en-US" sz="1150" dirty="0"/>
          </a:p>
          <a:p>
            <a:pPr marL="177800" indent="-177800">
              <a:spcAft>
                <a:spcPts val="300"/>
              </a:spcAft>
              <a:buSzPct val="100000"/>
              <a:buChar char="•"/>
            </a:pPr>
            <a:r>
              <a:rPr lang="en-US" sz="1150" b="1" dirty="0">
                <a:solidFill>
                  <a:schemeClr val="tx1"/>
                </a:solidFill>
              </a:rPr>
              <a:t>Accepted </a:t>
            </a:r>
            <a:pPr indent="0" marL="0">
              <a:buNone/>
            </a:pPr>
            <a:r>
              <a:rPr lang="en-US" sz="1150" dirty="0">
                <a:solidFill>
                  <a:schemeClr val="tx1"/>
                </a:solidFill>
              </a:rPr>
              <a:t>only if all pass and only the 3 allowed files changed</a:t>
            </a:r>
            <a:endParaRPr lang="en-US" sz="1150" dirty="0"/>
          </a:p>
        </p:txBody>
      </p:sp>
      <p:sp>
        <p:nvSpPr>
          <p:cNvPr id="49" name="fact-100"/>
          <p:cNvSpPr/>
          <p:nvPr/>
        </p:nvSpPr>
        <p:spPr>
          <a:xfrm>
            <a:off x="548640" y="5852160"/>
            <a:ext cx="1600200" cy="402336"/>
          </a:xfrm>
          <a:prstGeom prst="roundRect">
            <a:avLst>
              <a:gd name="adj" fmla="val 50000"/>
            </a:avLst>
          </a:prstGeom>
          <a:solidFill>
            <a:schemeClr val="bg2"/>
          </a:solidFill>
          <a:ln/>
        </p:spPr>
      </p:sp>
      <p:pic>
        <p:nvPicPr>
          <p:cNvPr id="50" name="icon-101" descr="preencoded.png">    </p:cNvPr>
          <p:cNvPicPr>
            <a:picLocks noChangeAspect="1"/>
          </p:cNvPicPr>
          <p:nvPr/>
        </p:nvPicPr>
        <p:blipFill>
          <a:blip r:embed="rId6"/>
          <a:stretch>
            <a:fillRect/>
          </a:stretch>
        </p:blipFill>
        <p:spPr>
          <a:xfrm>
            <a:off x="676656" y="5916168"/>
            <a:ext cx="274320" cy="274320"/>
          </a:xfrm>
          <a:prstGeom prst="rect">
            <a:avLst/>
          </a:prstGeom>
        </p:spPr>
      </p:pic>
      <p:sp>
        <p:nvSpPr>
          <p:cNvPr id="51" name="text-102"/>
          <p:cNvSpPr txBox="1"/>
          <p:nvPr/>
        </p:nvSpPr>
        <p:spPr>
          <a:xfrm>
            <a:off x="1024128" y="5852160"/>
            <a:ext cx="1033272" cy="402336"/>
          </a:xfrm>
          <a:prstGeom prst="rect">
            <a:avLst/>
          </a:prstGeom>
          <a:noFill/>
          <a:ln/>
        </p:spPr>
        <p:txBody>
          <a:bodyPr wrap="square" lIns="0" tIns="0" rIns="0" bIns="0" rtlCol="0" anchor="ctr"/>
          <a:lstStyle/>
          <a:p>
            <a:pPr algn="l" indent="0" marL="0">
              <a:buNone/>
            </a:pPr>
            <a:r>
              <a:rPr lang="en-US" sz="1200" dirty="0">
                <a:solidFill>
                  <a:schemeClr val="tx1"/>
                </a:solidFill>
              </a:rPr>
              <a:t>600 s budget</a:t>
            </a:r>
            <a:endParaRPr lang="en-US" sz="1200" dirty="0"/>
          </a:p>
        </p:txBody>
      </p:sp>
      <p:sp>
        <p:nvSpPr>
          <p:cNvPr id="52" name="fact-103"/>
          <p:cNvSpPr/>
          <p:nvPr/>
        </p:nvSpPr>
        <p:spPr>
          <a:xfrm>
            <a:off x="2331720" y="5852160"/>
            <a:ext cx="5349240" cy="402336"/>
          </a:xfrm>
          <a:prstGeom prst="roundRect">
            <a:avLst>
              <a:gd name="adj" fmla="val 50000"/>
            </a:avLst>
          </a:prstGeom>
          <a:solidFill>
            <a:schemeClr val="bg2"/>
          </a:solidFill>
          <a:ln/>
        </p:spPr>
      </p:sp>
      <p:pic>
        <p:nvPicPr>
          <p:cNvPr id="53" name="icon-104" descr="preencoded.png">    </p:cNvPr>
          <p:cNvPicPr>
            <a:picLocks noChangeAspect="1"/>
          </p:cNvPicPr>
          <p:nvPr/>
        </p:nvPicPr>
        <p:blipFill>
          <a:blip r:embed="rId7"/>
          <a:stretch>
            <a:fillRect/>
          </a:stretch>
        </p:blipFill>
        <p:spPr>
          <a:xfrm>
            <a:off x="2459736" y="5916168"/>
            <a:ext cx="274320" cy="274320"/>
          </a:xfrm>
          <a:prstGeom prst="rect">
            <a:avLst/>
          </a:prstGeom>
        </p:spPr>
      </p:pic>
      <p:sp>
        <p:nvSpPr>
          <p:cNvPr id="54" name="text-105"/>
          <p:cNvSpPr txBox="1"/>
          <p:nvPr/>
        </p:nvSpPr>
        <p:spPr>
          <a:xfrm>
            <a:off x="2807208" y="5852160"/>
            <a:ext cx="4782312" cy="402336"/>
          </a:xfrm>
          <a:prstGeom prst="rect">
            <a:avLst/>
          </a:prstGeom>
          <a:noFill/>
          <a:ln/>
        </p:spPr>
        <p:txBody>
          <a:bodyPr wrap="square" lIns="0" tIns="0" rIns="0" bIns="0" rtlCol="0" anchor="ctr"/>
          <a:lstStyle/>
          <a:p>
            <a:pPr algn="l" indent="0" marL="0">
              <a:buNone/>
            </a:pPr>
            <a:r>
              <a:rPr lang="en-US" sz="1200" dirty="0">
                <a:solidFill>
                  <a:schemeClr val="tx1"/>
                </a:solidFill>
              </a:rPr>
              <a:t>May edit: jwt/algorithms.py · jwt/utils.py · tests/test_generated.py</a:t>
            </a:r>
            <a:endParaRPr lang="en-US" sz="1200" dirty="0"/>
          </a:p>
        </p:txBody>
      </p:sp>
      <p:sp>
        <p:nvSpPr>
          <p:cNvPr id="55" name="fact-106"/>
          <p:cNvSpPr/>
          <p:nvPr/>
        </p:nvSpPr>
        <p:spPr>
          <a:xfrm>
            <a:off x="7863840" y="5852160"/>
            <a:ext cx="3776472" cy="402336"/>
          </a:xfrm>
          <a:prstGeom prst="roundRect">
            <a:avLst>
              <a:gd name="adj" fmla="val 50000"/>
            </a:avLst>
          </a:prstGeom>
          <a:solidFill>
            <a:schemeClr val="bg2"/>
          </a:solidFill>
          <a:ln/>
        </p:spPr>
      </p:sp>
      <p:pic>
        <p:nvPicPr>
          <p:cNvPr id="56" name="icon-107" descr="preencoded.png">    </p:cNvPr>
          <p:cNvPicPr>
            <a:picLocks noChangeAspect="1"/>
          </p:cNvPicPr>
          <p:nvPr/>
        </p:nvPicPr>
        <p:blipFill>
          <a:blip r:embed="rId8"/>
          <a:stretch>
            <a:fillRect/>
          </a:stretch>
        </p:blipFill>
        <p:spPr>
          <a:xfrm>
            <a:off x="7991856" y="5916168"/>
            <a:ext cx="274320" cy="274320"/>
          </a:xfrm>
          <a:prstGeom prst="rect">
            <a:avLst/>
          </a:prstGeom>
        </p:spPr>
      </p:pic>
      <p:sp>
        <p:nvSpPr>
          <p:cNvPr id="57" name="text-108"/>
          <p:cNvSpPr txBox="1"/>
          <p:nvPr/>
        </p:nvSpPr>
        <p:spPr>
          <a:xfrm>
            <a:off x="8339328" y="5852160"/>
            <a:ext cx="3209544" cy="402336"/>
          </a:xfrm>
          <a:prstGeom prst="rect">
            <a:avLst/>
          </a:prstGeom>
          <a:noFill/>
          <a:ln/>
        </p:spPr>
        <p:txBody>
          <a:bodyPr wrap="square" lIns="0" tIns="0" rIns="0" bIns="0" rtlCol="0" anchor="ctr"/>
          <a:lstStyle/>
          <a:p>
            <a:pPr algn="l" indent="0" marL="0">
              <a:buNone/>
            </a:pPr>
            <a:r>
              <a:rPr lang="en-US" sz="1200" dirty="0">
                <a:solidFill>
                  <a:schemeClr val="tx1"/>
                </a:solidFill>
              </a:rPr>
              <a:t>Never shown: the upstream fix, the grading tests</a:t>
            </a:r>
            <a:endParaRPr lang="en-US" sz="1200" dirty="0"/>
          </a:p>
        </p:txBody>
      </p:sp>
      <p:sp>
        <p:nvSpPr>
          <p:cNvPr id="25" name="Slide Number Placeholder 0"/>
          <p:cNvSpPr>
            <a:spLocks noGrp="1"/>
          </p:cNvSpPr>
          <p:nvPr>
            <p:ph type="sldNum" sz="quarter" idx="4294967295"/>
          </p:nvPr>
        </p:nvSpPr>
        <p:spPr>
          <a:xfrm>
            <a:off x="11109960"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WORKLOAD 2 OF 3 · SECURITY REPAIR · MODEL COMPARISON</a:t>
            </a:r>
            <a:endParaRPr lang="en-US" sz="1200" dirty="0"/>
          </a:p>
        </p:txBody>
      </p:sp>
      <p:sp>
        <p:nvSpPr>
          <p:cNvPr id="3" name="Text 0"/>
          <p:cNvSpPr/>
          <p:nvPr>
            <p:ph idx="101"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Only GPT-6 Astra’s fix survives the corrected security grader</a:t>
            </a:r>
            <a:endParaRPr lang="en-US" sz="3000" dirty="0"/>
          </a:p>
        </p:txBody>
      </p:sp>
      <p:sp>
        <p:nvSpPr>
          <p:cNvPr id="4" name="chart-frame-109"/>
          <p:cNvSpPr/>
          <p:nvPr/>
        </p:nvSpPr>
        <p:spPr>
          <a:xfrm>
            <a:off x="548640" y="1417320"/>
            <a:ext cx="4572000" cy="3429000"/>
          </a:xfrm>
          <a:prstGeom prst="roundRect">
            <a:avLst>
              <a:gd name="adj" fmla="val 2667"/>
            </a:avLst>
          </a:prstGeom>
          <a:solidFill>
            <a:schemeClr val="bg1"/>
          </a:solidFill>
          <a:ln w="12700">
            <a:solidFill>
              <a:srgbClr val="D3DBE5"/>
            </a:solidFill>
            <a:prstDash val="solid"/>
          </a:ln>
        </p:spPr>
      </p:sp>
      <p:graphicFrame>
        <p:nvGraphicFramePr>
          <p:cNvPr id="5" name="chart-110" descr=""/>
          <p:cNvGraphicFramePr/>
          <p:nvPr/>
        </p:nvGraphicFramePr>
        <p:xfrm>
          <a:off x="603504" y="1463040"/>
          <a:ext cx="4462272"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111"/>
          <p:cNvGraphicFramePr>
            <a:graphicFrameLocks noGrp="1"/>
          </p:cNvGraphicFramePr>
          <p:nvPr>
            <p:extLst>
              <p:ext uri="{D42A27DB-BD31-4B8C-83A1-F6EECF244321}">
                <p14:modId xmlns:p14="http://schemas.microsoft.com/office/powerpoint/2010/main" val="1579011935"/>
              </p:ext>
            </p:extLst>
          </p:nvPr>
        </p:nvGraphicFramePr>
        <p:xfrm>
          <a:off x="5303520" y="1417320"/>
          <a:ext cx="6336792" cy="914400"/>
        </p:xfrm>
        <a:graphic>
          <a:graphicData uri="http://schemas.openxmlformats.org/drawingml/2006/table">
            <a:tbl>
              <a:tblPr/>
              <a:tblGrid>
                <a:gridCol w="1444752"/>
                <a:gridCol w="978408"/>
                <a:gridCol w="978408"/>
                <a:gridCol w="978408"/>
                <a:gridCol w="978408"/>
                <a:gridCol w="978408"/>
              </a:tblGrid>
              <a:tr h="274320">
                <a:tc>
                  <a:txBody>
                    <a:bodyPr/>
                    <a:lstStyle/>
                    <a:p>
                      <a:pPr algn="l" indent="0" marL="0">
                        <a:buNone/>
                      </a:pPr>
                      <a:endParaRPr lang="en-US" sz="120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bg1"/>
                    </a:solidFill>
                  </a:tcPr>
                </a:tc>
                <a:tc gridSpan="4">
                  <a:txBody>
                    <a:bodyPr/>
                    <a:lstStyle/>
                    <a:p>
                      <a:pPr algn="ctr" indent="0" marL="0">
                        <a:buNone/>
                      </a:pPr>
                      <a:r>
                        <a:rPr lang="en-US" sz="1000" b="1" dirty="0">
                          <a:solidFill>
                            <a:schemeClr val="bg1"/>
                          </a:solidFill>
                        </a:rPr>
                        <a:t>LOCAL · Intel Arc B390 GPU · $0 API fee</a:t>
                      </a:r>
                      <a:endParaRPr lang="en-US" sz="1000" dirty="0"/>
                    </a:p>
                  </a:txBody>
                  <a:tcPr marL="36576" marR="36576" marT="18288" marB="18288"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tx2"/>
                    </a:solidFill>
                  </a:tcPr>
                </a:tc>
                <a:tc hMerge="1">
                  <a:tcPr/>
                </a:tc>
                <a:tc hMerge="1">
                  <a:tcPr/>
                </a:tc>
                <a:tc hMerge="1">
                  <a:tcPr/>
                </a:tc>
                <a:tc>
                  <a:txBody>
                    <a:bodyPr/>
                    <a:lstStyle/>
                    <a:p>
                      <a:pPr algn="ctr" indent="0" marL="0">
                        <a:buNone/>
                      </a:pPr>
                      <a:r>
                        <a:rPr lang="en-US" sz="1000" b="1" dirty="0">
                          <a:solidFill>
                            <a:schemeClr val="bg1"/>
                          </a:solidFill>
                        </a:rPr>
                        <a:t>CLOUD</a:t>
                      </a:r>
                      <a:endParaRPr lang="en-US" sz="1000" dirty="0"/>
                    </a:p>
                  </a:txBody>
                  <a:tcPr marL="36576" marR="36576" marT="18288" marB="18288"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tx2"/>
                    </a:solidFill>
                  </a:tcPr>
                </a:tc>
              </a:tr>
              <a:tr h="502920">
                <a:tc>
                  <a:txBody>
                    <a:bodyPr/>
                    <a:lstStyle/>
                    <a:p>
                      <a:pPr algn="l" indent="0" marL="0">
                        <a:buNone/>
                      </a:pPr>
                      <a:endParaRPr lang="en-US" sz="120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Qwen3.8 27B</a:t>
                      </a:r>
                      <a:endParaRPr lang="en-US" sz="1200" dirty="0"/>
                    </a:p>
                    <a:p>
                      <a:pPr algn="ctr" indent="0" marL="0">
                        <a:buNone/>
                      </a:pPr>
                      <a:r>
                        <a:rPr lang="en-US" sz="850" dirty="0">
                          <a:solidFill>
                            <a:schemeClr val="bg1"/>
                          </a:solidFill>
                        </a:rPr>
                        <a:t>base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Qwen3.8 27B</a:t>
                      </a:r>
                      <a:endParaRPr lang="en-US" sz="1200" dirty="0"/>
                    </a:p>
                    <a:p>
                      <a:pPr algn="ctr" indent="0" marL="0">
                        <a:buNone/>
                      </a:pPr>
                      <a:r>
                        <a:rPr lang="en-US" sz="850" dirty="0">
                          <a:solidFill>
                            <a:schemeClr val="bg1"/>
                          </a:solidFill>
                        </a:rPr>
                        <a:t>Fable 5 distill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Qwen3-Coder</a:t>
                      </a:r>
                      <a:endParaRPr lang="en-US" sz="1200" dirty="0"/>
                    </a:p>
                    <a:p>
                      <a:pPr algn="ctr" indent="0" marL="0">
                        <a:buNone/>
                      </a:pPr>
                      <a:r>
                        <a:rPr lang="en-US" sz="850" dirty="0">
                          <a:solidFill>
                            <a:schemeClr val="bg1"/>
                          </a:solidFill>
                        </a:rPr>
                        <a:t>30B-A3B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 8B</a:t>
                      </a:r>
                      <a:endParaRPr lang="en-US" sz="1200" dirty="0"/>
                    </a:p>
                    <a:p>
                      <a:pPr algn="ctr" indent="0" marL="0">
                        <a:buNone/>
                      </a:pPr>
                      <a:r>
                        <a:rPr lang="en-US" sz="850" dirty="0">
                          <a:solidFill>
                            <a:schemeClr val="bg1"/>
                          </a:solidFill>
                        </a:rPr>
                        <a:t>INT8</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GPT-6 Astra</a:t>
                      </a:r>
                      <a:endParaRPr lang="en-US" sz="1200" dirty="0"/>
                    </a:p>
                    <a:p>
                      <a:pPr algn="ctr" indent="0" marL="0">
                        <a:buNone/>
                      </a:pPr>
                      <a:r>
                        <a:rPr lang="en-US" sz="850" dirty="0">
                          <a:solidFill>
                            <a:schemeClr val="bg1"/>
                          </a:solidFill>
                        </a:rPr>
                        <a:t>OpenAI API</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5"/>
                    </a:solidFill>
                  </a:tcPr>
                </a:tc>
              </a:tr>
              <a:tr h="347472">
                <a:tc>
                  <a:txBody>
                    <a:bodyPr/>
                    <a:lstStyle/>
                    <a:p>
                      <a:pPr algn="l" indent="0" marL="0">
                        <a:buNone/>
                      </a:pPr>
                      <a:r>
                        <a:rPr lang="en-US" sz="1050" b="1" dirty="0">
                          <a:solidFill>
                            <a:schemeClr val="accent6"/>
                          </a:solidFill>
                        </a:rPr>
                        <a:t>Outcome on v9</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2"/>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2"/>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4"/>
                          </a:solidFill>
                        </a:rPr>
                        <a:t>Extra files</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4"/>
                          </a:solidFill>
                        </a:rPr>
                        <a:t>No tests</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Hidden tests, of 8</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5</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4</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Own tests passing</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 / 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 / 3</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none</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none</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29 / 29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Oct 26 re-grade, of 19</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4"/>
                          </a:solidFill>
                        </a:rPr>
                        <a:t>16</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4"/>
                          </a:solidFill>
                        </a:rPr>
                        <a:t>15</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19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Output tokens/s</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6.8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6.7</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25.9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12.2</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43.1</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API fee</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$0.46</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bl>
          </a:graphicData>
        </a:graphic>
      </p:graphicFrame>
      <p:sp>
        <p:nvSpPr>
          <p:cNvPr id="7" name="text-112"/>
          <p:cNvSpPr txBox="1"/>
          <p:nvPr/>
        </p:nvSpPr>
        <p:spPr>
          <a:xfrm>
            <a:off x="5303520" y="4352544"/>
            <a:ext cx="6336792" cy="493776"/>
          </a:xfrm>
          <a:prstGeom prst="rect">
            <a:avLst/>
          </a:prstGeom>
          <a:noFill/>
          <a:ln/>
        </p:spPr>
        <p:txBody>
          <a:bodyPr wrap="square" lIns="0" tIns="0" rIns="0" bIns="0" rtlCol="0" anchor="t"/>
          <a:lstStyle/>
          <a:p>
            <a:pPr algn="l" indent="0" marL="0">
              <a:buNone/>
            </a:pPr>
            <a:r>
              <a:rPr lang="en-US" sz="1000" i="1" dirty="0">
                <a:solidFill>
                  <a:schemeClr val="accent6"/>
                </a:solidFill>
              </a:rPr>
              <a:t>Source: security-repair/artifacts/comparison-report-20261021-133210.md · freeze v9 · 600 s · unscored pilots. One attempt per model: the accepted one, else the best (27B: 1 of 2 accepted; Coder: best of 3; 8B: 1 of 2). The re-grade row is our Oct 26 check, not part of the report. 4 of 8 = untouched vulnerable code.</a:t>
            </a:r>
            <a:endParaRPr lang="en-US" sz="1000" dirty="0"/>
          </a:p>
        </p:txBody>
      </p:sp>
      <p:sp>
        <p:nvSpPr>
          <p:cNvPr id="8" name="take-113"/>
          <p:cNvSpPr/>
          <p:nvPr/>
        </p:nvSpPr>
        <p:spPr>
          <a:xfrm>
            <a:off x="548640" y="5029200"/>
            <a:ext cx="3538728" cy="1207008"/>
          </a:xfrm>
          <a:prstGeom prst="roundRect">
            <a:avLst>
              <a:gd name="adj" fmla="val 7576"/>
            </a:avLst>
          </a:prstGeom>
          <a:solidFill>
            <a:schemeClr val="bg2"/>
          </a:solidFill>
          <a:ln/>
        </p:spPr>
      </p:sp>
      <p:sp>
        <p:nvSpPr>
          <p:cNvPr id="9" name="dot-114"/>
          <p:cNvSpPr/>
          <p:nvPr/>
        </p:nvSpPr>
        <p:spPr>
          <a:xfrm>
            <a:off x="713232" y="5175504"/>
            <a:ext cx="384048" cy="384048"/>
          </a:xfrm>
          <a:prstGeom prst="ellipse">
            <a:avLst/>
          </a:prstGeom>
          <a:solidFill>
            <a:schemeClr val="accent3"/>
          </a:solidFill>
          <a:ln/>
        </p:spPr>
      </p:sp>
      <p:pic>
        <p:nvPicPr>
          <p:cNvPr id="10" name="icon-115" descr="preencoded.png">    </p:cNvPr>
          <p:cNvPicPr>
            <a:picLocks noChangeAspect="1"/>
          </p:cNvPicPr>
          <p:nvPr/>
        </p:nvPicPr>
        <p:blipFill>
          <a:blip r:embed="rId2"/>
          <a:stretch>
            <a:fillRect/>
          </a:stretch>
        </p:blipFill>
        <p:spPr>
          <a:xfrm>
            <a:off x="805404" y="5267676"/>
            <a:ext cx="199705" cy="199705"/>
          </a:xfrm>
          <a:prstGeom prst="rect">
            <a:avLst/>
          </a:prstGeom>
        </p:spPr>
      </p:pic>
      <p:sp>
        <p:nvSpPr>
          <p:cNvPr id="11" name="text-116"/>
          <p:cNvSpPr txBox="1"/>
          <p:nvPr/>
        </p:nvSpPr>
        <p:spPr>
          <a:xfrm>
            <a:off x="1188720"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Only Astra’s fix holds up</a:t>
            </a:r>
            <a:endParaRPr lang="en-US" sz="1400" dirty="0"/>
          </a:p>
        </p:txBody>
      </p:sp>
      <p:sp>
        <p:nvSpPr>
          <p:cNvPr id="12" name="text-117"/>
          <p:cNvSpPr txBox="1"/>
          <p:nvPr/>
        </p:nvSpPr>
        <p:spPr>
          <a:xfrm>
            <a:off x="713232"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Accepted in 112 s with 29 of its own tests, and it passes all 19 tests of the corrected grader. Cost: $0.46 for the run.</a:t>
            </a:r>
            <a:endParaRPr lang="en-US" sz="1100" dirty="0"/>
          </a:p>
        </p:txBody>
      </p:sp>
      <p:sp>
        <p:nvSpPr>
          <p:cNvPr id="13" name="take-118"/>
          <p:cNvSpPr/>
          <p:nvPr/>
        </p:nvSpPr>
        <p:spPr>
          <a:xfrm>
            <a:off x="4325112" y="5029200"/>
            <a:ext cx="3538728" cy="1207008"/>
          </a:xfrm>
          <a:prstGeom prst="roundRect">
            <a:avLst>
              <a:gd name="adj" fmla="val 7576"/>
            </a:avLst>
          </a:prstGeom>
          <a:solidFill>
            <a:schemeClr val="bg2"/>
          </a:solidFill>
          <a:ln/>
        </p:spPr>
      </p:sp>
      <p:sp>
        <p:nvSpPr>
          <p:cNvPr id="14" name="dot-119"/>
          <p:cNvSpPr/>
          <p:nvPr/>
        </p:nvSpPr>
        <p:spPr>
          <a:xfrm>
            <a:off x="4489704" y="5175504"/>
            <a:ext cx="384048" cy="384048"/>
          </a:xfrm>
          <a:prstGeom prst="ellipse">
            <a:avLst/>
          </a:prstGeom>
          <a:solidFill>
            <a:schemeClr val="accent2"/>
          </a:solidFill>
          <a:ln/>
        </p:spPr>
      </p:sp>
      <p:pic>
        <p:nvPicPr>
          <p:cNvPr id="15" name="icon-120" descr="preencoded.png">    </p:cNvPr>
          <p:cNvPicPr>
            <a:picLocks noChangeAspect="1"/>
          </p:cNvPicPr>
          <p:nvPr/>
        </p:nvPicPr>
        <p:blipFill>
          <a:blip r:embed="rId3"/>
          <a:stretch>
            <a:fillRect/>
          </a:stretch>
        </p:blipFill>
        <p:spPr>
          <a:xfrm>
            <a:off x="4581876" y="5267676"/>
            <a:ext cx="199705" cy="199705"/>
          </a:xfrm>
          <a:prstGeom prst="rect">
            <a:avLst/>
          </a:prstGeom>
        </p:spPr>
      </p:pic>
      <p:sp>
        <p:nvSpPr>
          <p:cNvPr id="16" name="text-121"/>
          <p:cNvSpPr txBox="1"/>
          <p:nvPr/>
        </p:nvSpPr>
        <p:spPr>
          <a:xfrm>
            <a:off x="4965192"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Local 27B fixes look right, aren’t</a:t>
            </a:r>
            <a:endParaRPr lang="en-US" sz="1400" dirty="0"/>
          </a:p>
        </p:txBody>
      </p:sp>
      <p:sp>
        <p:nvSpPr>
          <p:cNvPr id="17" name="text-122"/>
          <p:cNvSpPr txBox="1"/>
          <p:nvPr/>
        </p:nvSpPr>
        <p:spPr>
          <a:xfrm>
            <a:off x="4489704"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Both were accepted on v9, but they only check how a key starts, so they fail the re-grade (16 and 15 of 19).</a:t>
            </a:r>
            <a:endParaRPr lang="en-US" sz="1100" dirty="0"/>
          </a:p>
        </p:txBody>
      </p:sp>
      <p:sp>
        <p:nvSpPr>
          <p:cNvPr id="18" name="take-123"/>
          <p:cNvSpPr/>
          <p:nvPr/>
        </p:nvSpPr>
        <p:spPr>
          <a:xfrm>
            <a:off x="8101584" y="5029200"/>
            <a:ext cx="3538728" cy="1207008"/>
          </a:xfrm>
          <a:prstGeom prst="roundRect">
            <a:avLst>
              <a:gd name="adj" fmla="val 7576"/>
            </a:avLst>
          </a:prstGeom>
          <a:solidFill>
            <a:schemeClr val="bg2"/>
          </a:solidFill>
          <a:ln/>
        </p:spPr>
      </p:sp>
      <p:sp>
        <p:nvSpPr>
          <p:cNvPr id="19" name="dot-124"/>
          <p:cNvSpPr/>
          <p:nvPr/>
        </p:nvSpPr>
        <p:spPr>
          <a:xfrm>
            <a:off x="8266176" y="5175504"/>
            <a:ext cx="384048" cy="384048"/>
          </a:xfrm>
          <a:prstGeom prst="ellipse">
            <a:avLst/>
          </a:prstGeom>
          <a:solidFill>
            <a:schemeClr val="accent4"/>
          </a:solidFill>
          <a:ln/>
        </p:spPr>
      </p:sp>
      <p:pic>
        <p:nvPicPr>
          <p:cNvPr id="20" name="icon-125" descr="preencoded.png">    </p:cNvPr>
          <p:cNvPicPr>
            <a:picLocks noChangeAspect="1"/>
          </p:cNvPicPr>
          <p:nvPr/>
        </p:nvPicPr>
        <p:blipFill>
          <a:blip r:embed="rId4"/>
          <a:stretch>
            <a:fillRect/>
          </a:stretch>
        </p:blipFill>
        <p:spPr>
          <a:xfrm>
            <a:off x="8358348" y="5267676"/>
            <a:ext cx="199705" cy="199705"/>
          </a:xfrm>
          <a:prstGeom prst="rect">
            <a:avLst/>
          </a:prstGeom>
        </p:spPr>
      </p:pic>
      <p:sp>
        <p:nvSpPr>
          <p:cNvPr id="21" name="text-126"/>
          <p:cNvSpPr txBox="1"/>
          <p:nvPr/>
        </p:nvSpPr>
        <p:spPr>
          <a:xfrm>
            <a:off x="8741664"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Coder and 8B made no fix</a:t>
            </a:r>
            <a:endParaRPr lang="en-US" sz="1400" dirty="0"/>
          </a:p>
        </p:txBody>
      </p:sp>
      <p:sp>
        <p:nvSpPr>
          <p:cNvPr id="22" name="text-127"/>
          <p:cNvSpPr txBox="1"/>
          <p:nvPr/>
        </p:nvSpPr>
        <p:spPr>
          <a:xfrm>
            <a:off x="8266176"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Coder’s best run left 4 helper and backup files (policy violation) at 5/8. 8B submitted after 38 s without changing anything.</a:t>
            </a:r>
            <a:endParaRPr lang="en-US" sz="1100" dirty="0"/>
          </a:p>
        </p:txBody>
      </p:sp>
      <p:sp>
        <p:nvSpPr>
          <p:cNvPr id="25" name="Slide Number Placeholder 0"/>
          <p:cNvSpPr>
            <a:spLocks noGrp="1"/>
          </p:cNvSpPr>
          <p:nvPr>
            <p:ph type="sldNum" sz="quarter" idx="4294967295"/>
          </p:nvPr>
        </p:nvSpPr>
        <p:spPr>
          <a:xfrm>
            <a:off x="11109960"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WORKLOAD 3 OF 3 · REGRESSION TESTS · THE TASK</a:t>
            </a:r>
            <a:endParaRPr lang="en-US" sz="1200" dirty="0"/>
          </a:p>
        </p:txBody>
      </p:sp>
      <p:sp>
        <p:nvSpPr>
          <p:cNvPr id="3" name="Text 0"/>
          <p:cNvSpPr/>
          <p:nvPr>
            <p:ph idx="101"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Write tests that catch bugs before they ship</a:t>
            </a:r>
            <a:endParaRPr lang="en-US" sz="3000" dirty="0"/>
          </a:p>
        </p:txBody>
      </p:sp>
      <p:sp>
        <p:nvSpPr>
          <p:cNvPr id="4" name="situation-128"/>
          <p:cNvSpPr/>
          <p:nvPr/>
        </p:nvSpPr>
        <p:spPr>
          <a:xfrm>
            <a:off x="548640" y="1417320"/>
            <a:ext cx="5440680" cy="1417320"/>
          </a:xfrm>
          <a:prstGeom prst="roundRect">
            <a:avLst>
              <a:gd name="adj" fmla="val 6452"/>
            </a:avLst>
          </a:prstGeom>
          <a:solidFill>
            <a:schemeClr val="bg2"/>
          </a:solidFill>
          <a:ln/>
        </p:spPr>
      </p:sp>
      <p:sp>
        <p:nvSpPr>
          <p:cNvPr id="5" name="dot-129"/>
          <p:cNvSpPr/>
          <p:nvPr/>
        </p:nvSpPr>
        <p:spPr>
          <a:xfrm>
            <a:off x="731520" y="1572768"/>
            <a:ext cx="457200" cy="457200"/>
          </a:xfrm>
          <a:prstGeom prst="ellipse">
            <a:avLst/>
          </a:prstGeom>
          <a:solidFill>
            <a:schemeClr val="tx2"/>
          </a:solidFill>
          <a:ln/>
        </p:spPr>
      </p:sp>
      <p:pic>
        <p:nvPicPr>
          <p:cNvPr id="6" name="icon-130" descr="preencoded.png">    </p:cNvPr>
          <p:cNvPicPr>
            <a:picLocks noChangeAspect="1"/>
          </p:cNvPicPr>
          <p:nvPr/>
        </p:nvPicPr>
        <p:blipFill>
          <a:blip r:embed="rId1"/>
          <a:stretch>
            <a:fillRect/>
          </a:stretch>
        </p:blipFill>
        <p:spPr>
          <a:xfrm>
            <a:off x="841248" y="1682496"/>
            <a:ext cx="237744" cy="237744"/>
          </a:xfrm>
          <a:prstGeom prst="rect">
            <a:avLst/>
          </a:prstGeom>
        </p:spPr>
      </p:pic>
      <p:sp>
        <p:nvSpPr>
          <p:cNvPr id="7" name="text-131"/>
          <p:cNvSpPr txBox="1"/>
          <p:nvPr/>
        </p:nvSpPr>
        <p:spPr>
          <a:xfrm>
            <a:off x="1325880" y="1554480"/>
            <a:ext cx="4526280" cy="365760"/>
          </a:xfrm>
          <a:prstGeom prst="rect">
            <a:avLst/>
          </a:prstGeom>
          <a:noFill/>
          <a:ln/>
        </p:spPr>
        <p:txBody>
          <a:bodyPr wrap="square" lIns="0" tIns="0" rIns="0" bIns="0" rtlCol="0" anchor="ctr"/>
          <a:lstStyle/>
          <a:p>
            <a:pPr algn="l" indent="0" marL="0">
              <a:buNone/>
            </a:pPr>
            <a:r>
              <a:rPr lang="en-US" sz="1400" b="1" dirty="0">
                <a:solidFill>
                  <a:schemeClr val="tx1"/>
                </a:solidFill>
              </a:rPr>
              <a:t>Today: an engineer writes the safety net</a:t>
            </a:r>
            <a:endParaRPr lang="en-US" sz="1400" dirty="0"/>
          </a:p>
        </p:txBody>
      </p:sp>
      <p:sp>
        <p:nvSpPr>
          <p:cNvPr id="8" name="text-132"/>
          <p:cNvSpPr txBox="1"/>
          <p:nvPr/>
        </p:nvSpPr>
        <p:spPr>
          <a:xfrm>
            <a:off x="1325880" y="1938528"/>
            <a:ext cx="4526280" cy="841248"/>
          </a:xfrm>
          <a:prstGeom prst="rect">
            <a:avLst/>
          </a:prstGeom>
          <a:noFill/>
          <a:ln/>
        </p:spPr>
        <p:txBody>
          <a:bodyPr wrap="square" lIns="0" tIns="0" rIns="0" bIns="0" rtlCol="0" anchor="t"/>
          <a:lstStyle/>
          <a:p>
            <a:pPr algn="l" indent="0" marL="0">
              <a:buNone/>
            </a:pPr>
            <a:r>
              <a:rPr lang="en-US" sz="1200" dirty="0">
                <a:solidFill>
                  <a:schemeClr val="accent6"/>
                </a:solidFill>
              </a:rPr>
              <a:t>The URL helpers in Requests 2.31.0 are correct. The job is a regression suite for prepend_scheme_if_needed, get_auth_from_url and urldefragauth. Production code must not change; the test file starts empty.</a:t>
            </a:r>
            <a:endParaRPr lang="en-US" sz="1200" dirty="0"/>
          </a:p>
        </p:txBody>
      </p:sp>
      <p:sp>
        <p:nvSpPr>
          <p:cNvPr id="9" name="text-133"/>
          <p:cNvSpPr txBox="1"/>
          <p:nvPr/>
        </p:nvSpPr>
        <p:spPr>
          <a:xfrm>
            <a:off x="548640" y="2990088"/>
            <a:ext cx="5440680" cy="310896"/>
          </a:xfrm>
          <a:prstGeom prst="rect">
            <a:avLst/>
          </a:prstGeom>
          <a:noFill/>
          <a:ln/>
        </p:spPr>
        <p:txBody>
          <a:bodyPr wrap="square" lIns="0" tIns="0" rIns="0" bIns="0" rtlCol="0" anchor="ctr"/>
          <a:lstStyle/>
          <a:p>
            <a:pPr algn="l" indent="0" marL="0">
              <a:buNone/>
            </a:pPr>
            <a:r>
              <a:rPr lang="en-US" sz="1500" b="1" dirty="0">
                <a:solidFill>
                  <a:schemeClr val="accent1"/>
                </a:solidFill>
              </a:rPr>
              <a:t>What the model must solve</a:t>
            </a:r>
            <a:endParaRPr lang="en-US" sz="1500" dirty="0"/>
          </a:p>
        </p:txBody>
      </p:sp>
      <p:sp>
        <p:nvSpPr>
          <p:cNvPr id="10" name="dot-134"/>
          <p:cNvSpPr/>
          <p:nvPr/>
        </p:nvSpPr>
        <p:spPr>
          <a:xfrm>
            <a:off x="548640" y="3438144"/>
            <a:ext cx="329184" cy="329184"/>
          </a:xfrm>
          <a:prstGeom prst="ellipse">
            <a:avLst/>
          </a:prstGeom>
          <a:solidFill>
            <a:schemeClr val="accent2"/>
          </a:solidFill>
          <a:ln/>
        </p:spPr>
      </p:sp>
      <p:sp>
        <p:nvSpPr>
          <p:cNvPr id="11" name="num-135"/>
          <p:cNvSpPr txBox="1"/>
          <p:nvPr/>
        </p:nvSpPr>
        <p:spPr>
          <a:xfrm>
            <a:off x="548640" y="3438144"/>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12" name="text-136"/>
          <p:cNvSpPr txBox="1"/>
          <p:nvPr/>
        </p:nvSpPr>
        <p:spPr>
          <a:xfrm>
            <a:off x="1005840" y="3364992"/>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Read the contract  </a:t>
            </a:r>
            <a:pPr algn="l" indent="0" marL="0">
              <a:buNone/>
            </a:pPr>
            <a:r>
              <a:rPr lang="en-US" sz="1200" dirty="0">
                <a:solidFill>
                  <a:schemeClr val="accent6"/>
                </a:solidFill>
              </a:rPr>
              <a:t>TASK.md describes how each of the three functions must behave</a:t>
            </a:r>
            <a:endParaRPr lang="en-US" sz="1200" dirty="0"/>
          </a:p>
        </p:txBody>
      </p:sp>
      <p:sp>
        <p:nvSpPr>
          <p:cNvPr id="13" name="dot-137"/>
          <p:cNvSpPr/>
          <p:nvPr/>
        </p:nvSpPr>
        <p:spPr>
          <a:xfrm>
            <a:off x="548640" y="3913632"/>
            <a:ext cx="329184" cy="329184"/>
          </a:xfrm>
          <a:prstGeom prst="ellipse">
            <a:avLst/>
          </a:prstGeom>
          <a:solidFill>
            <a:schemeClr val="accent2"/>
          </a:solidFill>
          <a:ln/>
        </p:spPr>
      </p:sp>
      <p:sp>
        <p:nvSpPr>
          <p:cNvPr id="14" name="num-138"/>
          <p:cNvSpPr txBox="1"/>
          <p:nvPr/>
        </p:nvSpPr>
        <p:spPr>
          <a:xfrm>
            <a:off x="548640" y="3913632"/>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5" name="text-139"/>
          <p:cNvSpPr txBox="1"/>
          <p:nvPr/>
        </p:nvSpPr>
        <p:spPr>
          <a:xfrm>
            <a:off x="1005840" y="3840480"/>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Write real tests  </a:t>
            </a:r>
            <a:pPr algn="l" indent="0" marL="0">
              <a:buNone/>
            </a:pPr>
            <a:r>
              <a:rPr lang="en-US" sz="1200" dirty="0">
                <a:solidFill>
                  <a:schemeClr val="accent6"/>
                </a:solidFill>
              </a:rPr>
              <a:t>call the real functions with concrete URLs and assert literal expected values</a:t>
            </a:r>
            <a:endParaRPr lang="en-US" sz="1200" dirty="0"/>
          </a:p>
        </p:txBody>
      </p:sp>
      <p:sp>
        <p:nvSpPr>
          <p:cNvPr id="16" name="dot-140"/>
          <p:cNvSpPr/>
          <p:nvPr/>
        </p:nvSpPr>
        <p:spPr>
          <a:xfrm>
            <a:off x="548640" y="4389120"/>
            <a:ext cx="329184" cy="329184"/>
          </a:xfrm>
          <a:prstGeom prst="ellipse">
            <a:avLst/>
          </a:prstGeom>
          <a:solidFill>
            <a:schemeClr val="accent2"/>
          </a:solidFill>
          <a:ln/>
        </p:spPr>
      </p:sp>
      <p:sp>
        <p:nvSpPr>
          <p:cNvPr id="17" name="num-141"/>
          <p:cNvSpPr txBox="1"/>
          <p:nvPr/>
        </p:nvSpPr>
        <p:spPr>
          <a:xfrm>
            <a:off x="548640" y="438912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18" name="text-142"/>
          <p:cNvSpPr txBox="1"/>
          <p:nvPr/>
        </p:nvSpPr>
        <p:spPr>
          <a:xfrm>
            <a:off x="1005840" y="4315968"/>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Cover the edge cases  </a:t>
            </a:r>
            <a:pPr algn="l" indent="0" marL="0">
              <a:buNone/>
            </a:pPr>
            <a:r>
              <a:rPr lang="en-US" sz="1200" dirty="0">
                <a:solidFill>
                  <a:schemeClr val="accent6"/>
                </a:solidFill>
              </a:rPr>
              <a:t>existing schemes, ports, queries, credentials, percent-encoding, fragments</a:t>
            </a:r>
            <a:endParaRPr lang="en-US" sz="1200" dirty="0"/>
          </a:p>
        </p:txBody>
      </p:sp>
      <p:sp>
        <p:nvSpPr>
          <p:cNvPr id="19" name="dot-143"/>
          <p:cNvSpPr/>
          <p:nvPr/>
        </p:nvSpPr>
        <p:spPr>
          <a:xfrm>
            <a:off x="548640" y="4864608"/>
            <a:ext cx="329184" cy="329184"/>
          </a:xfrm>
          <a:prstGeom prst="ellipse">
            <a:avLst/>
          </a:prstGeom>
          <a:solidFill>
            <a:schemeClr val="accent2"/>
          </a:solidFill>
          <a:ln/>
        </p:spPr>
      </p:sp>
      <p:sp>
        <p:nvSpPr>
          <p:cNvPr id="20" name="num-144"/>
          <p:cNvSpPr txBox="1"/>
          <p:nvPr/>
        </p:nvSpPr>
        <p:spPr>
          <a:xfrm>
            <a:off x="548640" y="4864608"/>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1" name="text-145"/>
          <p:cNvSpPr txBox="1"/>
          <p:nvPr/>
        </p:nvSpPr>
        <p:spPr>
          <a:xfrm>
            <a:off x="1005840" y="4791456"/>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Stay green  </a:t>
            </a:r>
            <a:pPr algn="l" indent="0" marL="0">
              <a:buNone/>
            </a:pPr>
            <a:r>
              <a:rPr lang="en-US" sz="1200" dirty="0">
                <a:solidFill>
                  <a:schemeClr val="accent6"/>
                </a:solidFill>
              </a:rPr>
              <a:t>the suite must pass on today’s correct code</a:t>
            </a:r>
            <a:endParaRPr lang="en-US" sz="1200" dirty="0"/>
          </a:p>
        </p:txBody>
      </p:sp>
      <p:sp>
        <p:nvSpPr>
          <p:cNvPr id="22" name="dot-146"/>
          <p:cNvSpPr/>
          <p:nvPr/>
        </p:nvSpPr>
        <p:spPr>
          <a:xfrm>
            <a:off x="548640" y="5340096"/>
            <a:ext cx="329184" cy="329184"/>
          </a:xfrm>
          <a:prstGeom prst="ellipse">
            <a:avLst/>
          </a:prstGeom>
          <a:solidFill>
            <a:schemeClr val="accent2"/>
          </a:solidFill>
          <a:ln/>
        </p:spPr>
      </p:sp>
      <p:sp>
        <p:nvSpPr>
          <p:cNvPr id="23" name="num-147"/>
          <p:cNvSpPr txBox="1"/>
          <p:nvPr/>
        </p:nvSpPr>
        <p:spPr>
          <a:xfrm>
            <a:off x="548640" y="5340096"/>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24" name="text-148"/>
          <p:cNvSpPr txBox="1"/>
          <p:nvPr/>
        </p:nvSpPr>
        <p:spPr>
          <a:xfrm>
            <a:off x="1005840" y="5266944"/>
            <a:ext cx="4983480" cy="475488"/>
          </a:xfrm>
          <a:prstGeom prst="rect">
            <a:avLst/>
          </a:prstGeom>
          <a:noFill/>
          <a:ln/>
        </p:spPr>
        <p:txBody>
          <a:bodyPr wrap="square" lIns="0" tIns="0" rIns="0" bIns="0" rtlCol="0" anchor="ctr"/>
          <a:lstStyle/>
          <a:p>
            <a:pPr algn="l" indent="0" marL="0">
              <a:buNone/>
            </a:pPr>
            <a:r>
              <a:rPr lang="en-US" sz="1200" b="1" dirty="0">
                <a:solidFill>
                  <a:schemeClr val="tx1"/>
                </a:solidFill>
              </a:rPr>
              <a:t>Submit  </a:t>
            </a:r>
            <a:pPr algn="l" indent="0" marL="0">
              <a:buNone/>
            </a:pPr>
            <a:r>
              <a:rPr lang="en-US" sz="1200" dirty="0">
                <a:solidFill>
                  <a:schemeClr val="accent6"/>
                </a:solidFill>
              </a:rPr>
              <a:t>within the 720 s budget; no stubs, skips, xfail or source inspection</a:t>
            </a:r>
            <a:endParaRPr lang="en-US" sz="1200" dirty="0"/>
          </a:p>
        </p:txBody>
      </p:sp>
      <p:sp>
        <p:nvSpPr>
          <p:cNvPr id="25" name="text-149"/>
          <p:cNvSpPr txBox="1"/>
          <p:nvPr/>
        </p:nvSpPr>
        <p:spPr>
          <a:xfrm>
            <a:off x="6263640" y="1417320"/>
            <a:ext cx="5376672" cy="292608"/>
          </a:xfrm>
          <a:prstGeom prst="rect">
            <a:avLst/>
          </a:prstGeom>
          <a:noFill/>
          <a:ln/>
        </p:spPr>
        <p:txBody>
          <a:bodyPr wrap="square" lIns="0" tIns="0" rIns="0" bIns="0" rtlCol="0" anchor="ctr"/>
          <a:lstStyle/>
          <a:p>
            <a:pPr algn="l" indent="0" marL="0">
              <a:buNone/>
            </a:pPr>
            <a:r>
              <a:rPr lang="en-US" sz="1300" b="1" dirty="0">
                <a:solidFill>
                  <a:schemeClr val="accent1"/>
                </a:solidFill>
              </a:rPr>
              <a:t>8 hidden faults, injected one at a time, that the tests must catch</a:t>
            </a:r>
            <a:endParaRPr lang="en-US" sz="1300" dirty="0"/>
          </a:p>
        </p:txBody>
      </p:sp>
      <p:sp>
        <p:nvSpPr>
          <p:cNvPr id="26" name="fn-150"/>
          <p:cNvSpPr/>
          <p:nvPr/>
        </p:nvSpPr>
        <p:spPr>
          <a:xfrm>
            <a:off x="6263640" y="1783080"/>
            <a:ext cx="5376672" cy="932688"/>
          </a:xfrm>
          <a:prstGeom prst="roundRect">
            <a:avLst>
              <a:gd name="adj" fmla="val 9804"/>
            </a:avLst>
          </a:prstGeom>
          <a:solidFill>
            <a:schemeClr val="bg2"/>
          </a:solidFill>
          <a:ln/>
        </p:spPr>
      </p:sp>
      <p:sp>
        <p:nvSpPr>
          <p:cNvPr id="27" name="text-151"/>
          <p:cNvSpPr txBox="1"/>
          <p:nvPr/>
        </p:nvSpPr>
        <p:spPr>
          <a:xfrm>
            <a:off x="6391656" y="1837944"/>
            <a:ext cx="5120640" cy="274320"/>
          </a:xfrm>
          <a:prstGeom prst="rect">
            <a:avLst/>
          </a:prstGeom>
          <a:noFill/>
          <a:ln/>
        </p:spPr>
        <p:txBody>
          <a:bodyPr wrap="square" lIns="0" tIns="0" rIns="0" bIns="0" rtlCol="0" anchor="ctr"/>
          <a:lstStyle/>
          <a:p>
            <a:pPr algn="l" indent="0" marL="0">
              <a:buNone/>
            </a:pPr>
            <a:r>
              <a:rPr lang="en-US" sz="1100" b="1" dirty="0">
                <a:solidFill>
                  <a:schemeClr val="tx1"/>
                </a:solidFill>
                <a:latin typeface="Consolas" pitchFamily="34" charset="0"/>
                <a:ea typeface="Consolas" pitchFamily="34" charset="-122"/>
                <a:cs typeface="Consolas" pitchFamily="34" charset="-120"/>
              </a:rPr>
              <a:t>prepend_scheme_if_needed</a:t>
            </a:r>
            <a:endParaRPr lang="en-US" sz="1100" dirty="0"/>
          </a:p>
        </p:txBody>
      </p:sp>
      <p:sp>
        <p:nvSpPr>
          <p:cNvPr id="28" name="fault-152"/>
          <p:cNvSpPr/>
          <p:nvPr/>
        </p:nvSpPr>
        <p:spPr>
          <a:xfrm>
            <a:off x="6391656" y="2167128"/>
            <a:ext cx="1211580" cy="457200"/>
          </a:xfrm>
          <a:prstGeom prst="roundRect">
            <a:avLst>
              <a:gd name="adj" fmla="val 12000"/>
            </a:avLst>
          </a:prstGeom>
          <a:solidFill>
            <a:srgbClr val="F7E3E1"/>
          </a:solidFill>
          <a:ln/>
        </p:spPr>
      </p:sp>
      <p:sp>
        <p:nvSpPr>
          <p:cNvPr id="29" name="text-153"/>
          <p:cNvSpPr txBox="1"/>
          <p:nvPr/>
        </p:nvSpPr>
        <p:spPr>
          <a:xfrm>
            <a:off x="6446520" y="2167128"/>
            <a:ext cx="1101852" cy="457200"/>
          </a:xfrm>
          <a:prstGeom prst="rect">
            <a:avLst/>
          </a:prstGeom>
          <a:noFill/>
          <a:ln/>
        </p:spPr>
        <p:txBody>
          <a:bodyPr wrap="square" lIns="0" tIns="0" rIns="0" bIns="0" rtlCol="0" anchor="ctr"/>
          <a:lstStyle/>
          <a:p>
            <a:pPr algn="ctr" indent="0" marL="0">
              <a:buNone/>
            </a:pPr>
            <a:r>
              <a:rPr lang="en-US" sz="1050" dirty="0">
                <a:solidFill>
                  <a:schemeClr val="tx1"/>
                </a:solidFill>
              </a:rPr>
              <a:t>replaces an existing scheme</a:t>
            </a:r>
            <a:endParaRPr lang="en-US" sz="1050" dirty="0"/>
          </a:p>
        </p:txBody>
      </p:sp>
      <p:sp>
        <p:nvSpPr>
          <p:cNvPr id="30" name="fault-154"/>
          <p:cNvSpPr/>
          <p:nvPr/>
        </p:nvSpPr>
        <p:spPr>
          <a:xfrm>
            <a:off x="7694676" y="2167128"/>
            <a:ext cx="1211580" cy="457200"/>
          </a:xfrm>
          <a:prstGeom prst="roundRect">
            <a:avLst>
              <a:gd name="adj" fmla="val 12000"/>
            </a:avLst>
          </a:prstGeom>
          <a:solidFill>
            <a:srgbClr val="F7E3E1"/>
          </a:solidFill>
          <a:ln/>
        </p:spPr>
      </p:sp>
      <p:sp>
        <p:nvSpPr>
          <p:cNvPr id="31" name="text-155"/>
          <p:cNvSpPr txBox="1"/>
          <p:nvPr/>
        </p:nvSpPr>
        <p:spPr>
          <a:xfrm>
            <a:off x="7749540" y="2167128"/>
            <a:ext cx="1101852" cy="457200"/>
          </a:xfrm>
          <a:prstGeom prst="rect">
            <a:avLst/>
          </a:prstGeom>
          <a:noFill/>
          <a:ln/>
        </p:spPr>
        <p:txBody>
          <a:bodyPr wrap="square" lIns="0" tIns="0" rIns="0" bIns="0" rtlCol="0" anchor="ctr"/>
          <a:lstStyle/>
          <a:p>
            <a:pPr algn="ctr" indent="0" marL="0">
              <a:buNone/>
            </a:pPr>
            <a:r>
              <a:rPr lang="en-US" sz="1050" dirty="0">
                <a:solidFill>
                  <a:schemeClr val="tx1"/>
                </a:solidFill>
              </a:rPr>
              <a:t>drops the ?query</a:t>
            </a:r>
            <a:endParaRPr lang="en-US" sz="1050" dirty="0"/>
          </a:p>
        </p:txBody>
      </p:sp>
      <p:sp>
        <p:nvSpPr>
          <p:cNvPr id="32" name="fault-156"/>
          <p:cNvSpPr/>
          <p:nvPr/>
        </p:nvSpPr>
        <p:spPr>
          <a:xfrm>
            <a:off x="8997696" y="2167128"/>
            <a:ext cx="1211580" cy="457200"/>
          </a:xfrm>
          <a:prstGeom prst="roundRect">
            <a:avLst>
              <a:gd name="adj" fmla="val 12000"/>
            </a:avLst>
          </a:prstGeom>
          <a:solidFill>
            <a:srgbClr val="F7E3E1"/>
          </a:solidFill>
          <a:ln/>
        </p:spPr>
      </p:sp>
      <p:sp>
        <p:nvSpPr>
          <p:cNvPr id="33" name="text-157"/>
          <p:cNvSpPr txBox="1"/>
          <p:nvPr/>
        </p:nvSpPr>
        <p:spPr>
          <a:xfrm>
            <a:off x="9052560" y="2167128"/>
            <a:ext cx="1101852" cy="457200"/>
          </a:xfrm>
          <a:prstGeom prst="rect">
            <a:avLst/>
          </a:prstGeom>
          <a:noFill/>
          <a:ln/>
        </p:spPr>
        <p:txBody>
          <a:bodyPr wrap="square" lIns="0" tIns="0" rIns="0" bIns="0" rtlCol="0" anchor="ctr"/>
          <a:lstStyle/>
          <a:p>
            <a:pPr algn="ctr" indent="0" marL="0">
              <a:buNone/>
            </a:pPr>
            <a:r>
              <a:rPr lang="en-US" sz="1050" dirty="0">
                <a:solidFill>
                  <a:schemeClr val="tx1"/>
                </a:solidFill>
              </a:rPr>
              <a:t>drops the :port</a:t>
            </a:r>
            <a:endParaRPr lang="en-US" sz="1050" dirty="0"/>
          </a:p>
        </p:txBody>
      </p:sp>
      <p:sp>
        <p:nvSpPr>
          <p:cNvPr id="34" name="fault-158"/>
          <p:cNvSpPr/>
          <p:nvPr/>
        </p:nvSpPr>
        <p:spPr>
          <a:xfrm>
            <a:off x="10300716" y="2167128"/>
            <a:ext cx="1211580" cy="457200"/>
          </a:xfrm>
          <a:prstGeom prst="roundRect">
            <a:avLst>
              <a:gd name="adj" fmla="val 12000"/>
            </a:avLst>
          </a:prstGeom>
          <a:solidFill>
            <a:srgbClr val="F7E3E1"/>
          </a:solidFill>
          <a:ln/>
        </p:spPr>
      </p:sp>
      <p:sp>
        <p:nvSpPr>
          <p:cNvPr id="35" name="text-159"/>
          <p:cNvSpPr txBox="1"/>
          <p:nvPr/>
        </p:nvSpPr>
        <p:spPr>
          <a:xfrm>
            <a:off x="10355580" y="2167128"/>
            <a:ext cx="1101852" cy="457200"/>
          </a:xfrm>
          <a:prstGeom prst="rect">
            <a:avLst/>
          </a:prstGeom>
          <a:noFill/>
          <a:ln/>
        </p:spPr>
        <p:txBody>
          <a:bodyPr wrap="square" lIns="0" tIns="0" rIns="0" bIns="0" rtlCol="0" anchor="ctr"/>
          <a:lstStyle/>
          <a:p>
            <a:pPr algn="ctr" indent="0" marL="0">
              <a:buNone/>
            </a:pPr>
            <a:r>
              <a:rPr lang="en-US" sz="1050" dirty="0">
                <a:solidFill>
                  <a:schemeClr val="tx1"/>
                </a:solidFill>
              </a:rPr>
              <a:t>loses user:pass@</a:t>
            </a:r>
            <a:endParaRPr lang="en-US" sz="1050" dirty="0"/>
          </a:p>
        </p:txBody>
      </p:sp>
      <p:sp>
        <p:nvSpPr>
          <p:cNvPr id="36" name="fn-160"/>
          <p:cNvSpPr/>
          <p:nvPr/>
        </p:nvSpPr>
        <p:spPr>
          <a:xfrm>
            <a:off x="6263640" y="2816352"/>
            <a:ext cx="2628900" cy="932688"/>
          </a:xfrm>
          <a:prstGeom prst="roundRect">
            <a:avLst>
              <a:gd name="adj" fmla="val 9804"/>
            </a:avLst>
          </a:prstGeom>
          <a:solidFill>
            <a:schemeClr val="bg2"/>
          </a:solidFill>
          <a:ln/>
        </p:spPr>
      </p:sp>
      <p:sp>
        <p:nvSpPr>
          <p:cNvPr id="37" name="text-161"/>
          <p:cNvSpPr txBox="1"/>
          <p:nvPr/>
        </p:nvSpPr>
        <p:spPr>
          <a:xfrm>
            <a:off x="6391656" y="2871216"/>
            <a:ext cx="2372868" cy="274320"/>
          </a:xfrm>
          <a:prstGeom prst="rect">
            <a:avLst/>
          </a:prstGeom>
          <a:noFill/>
          <a:ln/>
        </p:spPr>
        <p:txBody>
          <a:bodyPr wrap="square" lIns="0" tIns="0" rIns="0" bIns="0" rtlCol="0" anchor="ctr"/>
          <a:lstStyle/>
          <a:p>
            <a:pPr algn="l" indent="0" marL="0">
              <a:buNone/>
            </a:pPr>
            <a:r>
              <a:rPr lang="en-US" sz="1100" b="1" dirty="0">
                <a:solidFill>
                  <a:schemeClr val="tx1"/>
                </a:solidFill>
                <a:latin typeface="Consolas" pitchFamily="34" charset="0"/>
                <a:ea typeface="Consolas" pitchFamily="34" charset="-122"/>
                <a:cs typeface="Consolas" pitchFamily="34" charset="-120"/>
              </a:rPr>
              <a:t>get_auth_from_url</a:t>
            </a:r>
            <a:endParaRPr lang="en-US" sz="1100" dirty="0"/>
          </a:p>
        </p:txBody>
      </p:sp>
      <p:sp>
        <p:nvSpPr>
          <p:cNvPr id="38" name="fault-162"/>
          <p:cNvSpPr/>
          <p:nvPr/>
        </p:nvSpPr>
        <p:spPr>
          <a:xfrm>
            <a:off x="6391656" y="3200400"/>
            <a:ext cx="1140714" cy="457200"/>
          </a:xfrm>
          <a:prstGeom prst="roundRect">
            <a:avLst>
              <a:gd name="adj" fmla="val 12000"/>
            </a:avLst>
          </a:prstGeom>
          <a:solidFill>
            <a:srgbClr val="F7E3E1"/>
          </a:solidFill>
          <a:ln/>
        </p:spPr>
      </p:sp>
      <p:sp>
        <p:nvSpPr>
          <p:cNvPr id="39" name="text-163"/>
          <p:cNvSpPr txBox="1"/>
          <p:nvPr/>
        </p:nvSpPr>
        <p:spPr>
          <a:xfrm>
            <a:off x="6446520" y="3200400"/>
            <a:ext cx="1030986" cy="457200"/>
          </a:xfrm>
          <a:prstGeom prst="rect">
            <a:avLst/>
          </a:prstGeom>
          <a:noFill/>
          <a:ln/>
        </p:spPr>
        <p:txBody>
          <a:bodyPr wrap="square" lIns="0" tIns="0" rIns="0" bIns="0" rtlCol="0" anchor="ctr"/>
          <a:lstStyle/>
          <a:p>
            <a:pPr algn="ctr" indent="0" marL="0">
              <a:buNone/>
            </a:pPr>
            <a:r>
              <a:rPr lang="en-US" sz="1050" dirty="0">
                <a:solidFill>
                  <a:schemeClr val="tx1"/>
                </a:solidFill>
              </a:rPr>
              <a:t>no percent-decoding</a:t>
            </a:r>
            <a:endParaRPr lang="en-US" sz="1050" dirty="0"/>
          </a:p>
        </p:txBody>
      </p:sp>
      <p:sp>
        <p:nvSpPr>
          <p:cNvPr id="40" name="fault-164"/>
          <p:cNvSpPr/>
          <p:nvPr/>
        </p:nvSpPr>
        <p:spPr>
          <a:xfrm>
            <a:off x="7623810" y="3200400"/>
            <a:ext cx="1140714" cy="457200"/>
          </a:xfrm>
          <a:prstGeom prst="roundRect">
            <a:avLst>
              <a:gd name="adj" fmla="val 12000"/>
            </a:avLst>
          </a:prstGeom>
          <a:solidFill>
            <a:srgbClr val="F7E3E1"/>
          </a:solidFill>
          <a:ln/>
        </p:spPr>
      </p:sp>
      <p:sp>
        <p:nvSpPr>
          <p:cNvPr id="41" name="text-165"/>
          <p:cNvSpPr txBox="1"/>
          <p:nvPr/>
        </p:nvSpPr>
        <p:spPr>
          <a:xfrm>
            <a:off x="7678674" y="3200400"/>
            <a:ext cx="1030986" cy="457200"/>
          </a:xfrm>
          <a:prstGeom prst="rect">
            <a:avLst/>
          </a:prstGeom>
          <a:noFill/>
          <a:ln/>
        </p:spPr>
        <p:txBody>
          <a:bodyPr wrap="square" lIns="0" tIns="0" rIns="0" bIns="0" rtlCol="0" anchor="ctr"/>
          <a:lstStyle/>
          <a:p>
            <a:pPr algn="ctr" indent="0" marL="0">
              <a:buNone/>
            </a:pPr>
            <a:r>
              <a:rPr lang="en-US" sz="1050" dirty="0">
                <a:solidFill>
                  <a:schemeClr val="tx1"/>
                </a:solidFill>
              </a:rPr>
              <a:t>None instead of ""</a:t>
            </a:r>
            <a:endParaRPr lang="en-US" sz="1050" dirty="0"/>
          </a:p>
        </p:txBody>
      </p:sp>
      <p:sp>
        <p:nvSpPr>
          <p:cNvPr id="42" name="fn-166"/>
          <p:cNvSpPr/>
          <p:nvPr/>
        </p:nvSpPr>
        <p:spPr>
          <a:xfrm>
            <a:off x="9011412" y="2816352"/>
            <a:ext cx="2628900" cy="932688"/>
          </a:xfrm>
          <a:prstGeom prst="roundRect">
            <a:avLst>
              <a:gd name="adj" fmla="val 9804"/>
            </a:avLst>
          </a:prstGeom>
          <a:solidFill>
            <a:schemeClr val="bg2"/>
          </a:solidFill>
          <a:ln/>
        </p:spPr>
      </p:sp>
      <p:sp>
        <p:nvSpPr>
          <p:cNvPr id="43" name="text-167"/>
          <p:cNvSpPr txBox="1"/>
          <p:nvPr/>
        </p:nvSpPr>
        <p:spPr>
          <a:xfrm>
            <a:off x="9139428" y="2871216"/>
            <a:ext cx="2372868" cy="274320"/>
          </a:xfrm>
          <a:prstGeom prst="rect">
            <a:avLst/>
          </a:prstGeom>
          <a:noFill/>
          <a:ln/>
        </p:spPr>
        <p:txBody>
          <a:bodyPr wrap="square" lIns="0" tIns="0" rIns="0" bIns="0" rtlCol="0" anchor="ctr"/>
          <a:lstStyle/>
          <a:p>
            <a:pPr algn="l" indent="0" marL="0">
              <a:buNone/>
            </a:pPr>
            <a:r>
              <a:rPr lang="en-US" sz="1100" b="1" dirty="0">
                <a:solidFill>
                  <a:schemeClr val="tx1"/>
                </a:solidFill>
                <a:latin typeface="Consolas" pitchFamily="34" charset="0"/>
                <a:ea typeface="Consolas" pitchFamily="34" charset="-122"/>
                <a:cs typeface="Consolas" pitchFamily="34" charset="-120"/>
              </a:rPr>
              <a:t>urldefragauth</a:t>
            </a:r>
            <a:endParaRPr lang="en-US" sz="1100" dirty="0"/>
          </a:p>
        </p:txBody>
      </p:sp>
      <p:sp>
        <p:nvSpPr>
          <p:cNvPr id="44" name="fault-168"/>
          <p:cNvSpPr/>
          <p:nvPr/>
        </p:nvSpPr>
        <p:spPr>
          <a:xfrm>
            <a:off x="9139428" y="3200400"/>
            <a:ext cx="1140714" cy="457200"/>
          </a:xfrm>
          <a:prstGeom prst="roundRect">
            <a:avLst>
              <a:gd name="adj" fmla="val 12000"/>
            </a:avLst>
          </a:prstGeom>
          <a:solidFill>
            <a:srgbClr val="F7E3E1"/>
          </a:solidFill>
          <a:ln/>
        </p:spPr>
      </p:sp>
      <p:sp>
        <p:nvSpPr>
          <p:cNvPr id="45" name="text-169"/>
          <p:cNvSpPr txBox="1"/>
          <p:nvPr/>
        </p:nvSpPr>
        <p:spPr>
          <a:xfrm>
            <a:off x="9194292" y="3200400"/>
            <a:ext cx="1030986" cy="457200"/>
          </a:xfrm>
          <a:prstGeom prst="rect">
            <a:avLst/>
          </a:prstGeom>
          <a:noFill/>
          <a:ln/>
        </p:spPr>
        <p:txBody>
          <a:bodyPr wrap="square" lIns="0" tIns="0" rIns="0" bIns="0" rtlCol="0" anchor="ctr"/>
          <a:lstStyle/>
          <a:p>
            <a:pPr algn="ctr" indent="0" marL="0">
              <a:buNone/>
            </a:pPr>
            <a:r>
              <a:rPr lang="en-US" sz="1050" dirty="0">
                <a:solidFill>
                  <a:schemeClr val="tx1"/>
                </a:solidFill>
              </a:rPr>
              <a:t>keeps the #fragment</a:t>
            </a:r>
            <a:endParaRPr lang="en-US" sz="1050" dirty="0"/>
          </a:p>
        </p:txBody>
      </p:sp>
      <p:sp>
        <p:nvSpPr>
          <p:cNvPr id="46" name="fault-170"/>
          <p:cNvSpPr/>
          <p:nvPr/>
        </p:nvSpPr>
        <p:spPr>
          <a:xfrm>
            <a:off x="10371582" y="3200400"/>
            <a:ext cx="1140714" cy="457200"/>
          </a:xfrm>
          <a:prstGeom prst="roundRect">
            <a:avLst>
              <a:gd name="adj" fmla="val 12000"/>
            </a:avLst>
          </a:prstGeom>
          <a:solidFill>
            <a:srgbClr val="F7E3E1"/>
          </a:solidFill>
          <a:ln/>
        </p:spPr>
      </p:sp>
      <p:sp>
        <p:nvSpPr>
          <p:cNvPr id="47" name="text-171"/>
          <p:cNvSpPr txBox="1"/>
          <p:nvPr/>
        </p:nvSpPr>
        <p:spPr>
          <a:xfrm>
            <a:off x="10426446" y="3200400"/>
            <a:ext cx="1030986" cy="457200"/>
          </a:xfrm>
          <a:prstGeom prst="rect">
            <a:avLst/>
          </a:prstGeom>
          <a:noFill/>
          <a:ln/>
        </p:spPr>
        <p:txBody>
          <a:bodyPr wrap="square" lIns="0" tIns="0" rIns="0" bIns="0" rtlCol="0" anchor="ctr"/>
          <a:lstStyle/>
          <a:p>
            <a:pPr algn="ctr" indent="0" marL="0">
              <a:buNone/>
            </a:pPr>
            <a:r>
              <a:rPr lang="en-US" sz="1050" dirty="0">
                <a:solidFill>
                  <a:schemeClr val="tx1"/>
                </a:solidFill>
              </a:rPr>
              <a:t>keeps user:pass@</a:t>
            </a:r>
            <a:endParaRPr lang="en-US" sz="1050" dirty="0"/>
          </a:p>
        </p:txBody>
      </p:sp>
      <p:sp>
        <p:nvSpPr>
          <p:cNvPr id="48" name="grading-172"/>
          <p:cNvSpPr/>
          <p:nvPr/>
        </p:nvSpPr>
        <p:spPr>
          <a:xfrm>
            <a:off x="6263640" y="3931920"/>
            <a:ext cx="5376672" cy="1783080"/>
          </a:xfrm>
          <a:prstGeom prst="roundRect">
            <a:avLst>
              <a:gd name="adj" fmla="val 5128"/>
            </a:avLst>
          </a:prstGeom>
          <a:solidFill>
            <a:schemeClr val="bg1"/>
          </a:solidFill>
          <a:ln w="19050">
            <a:solidFill>
              <a:schemeClr val="accent3"/>
            </a:solidFill>
            <a:prstDash val="solid"/>
          </a:ln>
        </p:spPr>
      </p:sp>
      <p:pic>
        <p:nvPicPr>
          <p:cNvPr id="49" name="icon-173" descr="preencoded.png">    </p:cNvPr>
          <p:cNvPicPr>
            <a:picLocks noChangeAspect="1"/>
          </p:cNvPicPr>
          <p:nvPr/>
        </p:nvPicPr>
        <p:blipFill>
          <a:blip r:embed="rId2"/>
          <a:stretch>
            <a:fillRect/>
          </a:stretch>
        </p:blipFill>
        <p:spPr>
          <a:xfrm>
            <a:off x="6428232" y="4059936"/>
            <a:ext cx="329184" cy="329184"/>
          </a:xfrm>
          <a:prstGeom prst="rect">
            <a:avLst/>
          </a:prstGeom>
        </p:spPr>
      </p:pic>
      <p:sp>
        <p:nvSpPr>
          <p:cNvPr id="50" name="text-174"/>
          <p:cNvSpPr txBox="1"/>
          <p:nvPr/>
        </p:nvSpPr>
        <p:spPr>
          <a:xfrm>
            <a:off x="6858000" y="4032504"/>
            <a:ext cx="4645152" cy="384048"/>
          </a:xfrm>
          <a:prstGeom prst="rect">
            <a:avLst/>
          </a:prstGeom>
          <a:noFill/>
          <a:ln/>
        </p:spPr>
        <p:txBody>
          <a:bodyPr wrap="square" lIns="0" tIns="0" rIns="0" bIns="0" rtlCol="0" anchor="ctr"/>
          <a:lstStyle/>
          <a:p>
            <a:pPr algn="l" indent="0" marL="0">
              <a:buNone/>
            </a:pPr>
            <a:r>
              <a:rPr lang="en-US" sz="1400" b="1" dirty="0">
                <a:solidFill>
                  <a:schemeClr val="tx1"/>
                </a:solidFill>
              </a:rPr>
              <a:t>How it is graded: after work stops, offline</a:t>
            </a:r>
            <a:endParaRPr lang="en-US" sz="1400" dirty="0"/>
          </a:p>
        </p:txBody>
      </p:sp>
      <p:sp>
        <p:nvSpPr>
          <p:cNvPr id="51" name="list-175"/>
          <p:cNvSpPr txBox="1"/>
          <p:nvPr/>
        </p:nvSpPr>
        <p:spPr>
          <a:xfrm>
            <a:off x="6446520" y="4498848"/>
            <a:ext cx="5029200" cy="1161288"/>
          </a:xfrm>
          <a:prstGeom prst="rect">
            <a:avLst/>
          </a:prstGeom>
          <a:noFill/>
          <a:ln/>
        </p:spPr>
        <p:txBody>
          <a:bodyPr wrap="square" lIns="0" tIns="0" rIns="0" bIns="0" rtlCol="0" anchor="t"/>
          <a:lstStyle/>
          <a:p>
            <a:pPr marL="177800" indent="-177800">
              <a:spcAft>
                <a:spcPts val="300"/>
              </a:spcAft>
              <a:buSzPct val="100000"/>
              <a:buChar char="•"/>
            </a:pPr>
            <a:r>
              <a:rPr lang="en-US" sz="1150" b="1" dirty="0">
                <a:solidFill>
                  <a:schemeClr val="tx1"/>
                </a:solidFill>
              </a:rPr>
              <a:t>9 hidden witness tests: </a:t>
            </a:r>
            <a:pPr indent="0" marL="0">
              <a:buNone/>
            </a:pPr>
            <a:r>
              <a:rPr lang="en-US" sz="1150" dirty="0">
                <a:solidFill>
                  <a:schemeClr val="tx1"/>
                </a:solidFill>
              </a:rPr>
              <a:t>production code is untouched and still correct</a:t>
            </a:r>
            <a:endParaRPr lang="en-US" sz="1150" dirty="0"/>
          </a:p>
          <a:p>
            <a:pPr marL="177800" indent="-177800">
              <a:spcAft>
                <a:spcPts val="300"/>
              </a:spcAft>
              <a:buSzPct val="100000"/>
              <a:buChar char="•"/>
            </a:pPr>
            <a:r>
              <a:rPr lang="en-US" sz="1150" b="1" dirty="0">
                <a:solidFill>
                  <a:schemeClr val="tx1"/>
                </a:solidFill>
              </a:rPr>
              <a:t>Clean run: </a:t>
            </a:r>
            <a:pPr indent="0" marL="0">
              <a:buNone/>
            </a:pPr>
            <a:r>
              <a:rPr lang="en-US" sz="1150" dirty="0">
                <a:solidFill>
                  <a:schemeClr val="tx1"/>
                </a:solidFill>
              </a:rPr>
              <a:t>the model’s suite must pass on correct Requests 2.31.0</a:t>
            </a:r>
            <a:endParaRPr lang="en-US" sz="1150" dirty="0"/>
          </a:p>
          <a:p>
            <a:pPr marL="177800" indent="-177800">
              <a:spcAft>
                <a:spcPts val="300"/>
              </a:spcAft>
              <a:buSzPct val="100000"/>
              <a:buChar char="•"/>
            </a:pPr>
            <a:r>
              <a:rPr lang="en-US" sz="1150" b="1" dirty="0">
                <a:solidFill>
                  <a:schemeClr val="tx1"/>
                </a:solidFill>
              </a:rPr>
              <a:t>Fault runs: </a:t>
            </a:r>
            <a:pPr indent="0" marL="0">
              <a:buNone/>
            </a:pPr>
            <a:r>
              <a:rPr lang="en-US" sz="1150" dirty="0">
                <a:solidFill>
                  <a:schemeClr val="tx1"/>
                </a:solidFill>
              </a:rPr>
              <a:t>each fault must make an ordinary assert fail; errors, skips and xfail don’t count</a:t>
            </a:r>
            <a:endParaRPr lang="en-US" sz="1150" dirty="0"/>
          </a:p>
          <a:p>
            <a:pPr marL="177800" indent="-177800">
              <a:spcAft>
                <a:spcPts val="300"/>
              </a:spcAft>
              <a:buSzPct val="100000"/>
              <a:buChar char="•"/>
            </a:pPr>
            <a:r>
              <a:rPr lang="en-US" sz="1150" b="1" dirty="0">
                <a:solidFill>
                  <a:schemeClr val="tx1"/>
                </a:solidFill>
              </a:rPr>
              <a:t>Accepted </a:t>
            </a:r>
            <a:pPr indent="0" marL="0">
              <a:buNone/>
            </a:pPr>
            <a:r>
              <a:rPr lang="en-US" sz="1150" dirty="0">
                <a:solidFill>
                  <a:schemeClr val="tx1"/>
                </a:solidFill>
              </a:rPr>
              <a:t>only if all 8 faults are caught</a:t>
            </a:r>
            <a:endParaRPr lang="en-US" sz="1150" dirty="0"/>
          </a:p>
        </p:txBody>
      </p:sp>
      <p:sp>
        <p:nvSpPr>
          <p:cNvPr id="52" name="fact-176"/>
          <p:cNvSpPr/>
          <p:nvPr/>
        </p:nvSpPr>
        <p:spPr>
          <a:xfrm>
            <a:off x="548640" y="5852160"/>
            <a:ext cx="1600200" cy="402336"/>
          </a:xfrm>
          <a:prstGeom prst="roundRect">
            <a:avLst>
              <a:gd name="adj" fmla="val 50000"/>
            </a:avLst>
          </a:prstGeom>
          <a:solidFill>
            <a:schemeClr val="bg2"/>
          </a:solidFill>
          <a:ln/>
        </p:spPr>
      </p:sp>
      <p:pic>
        <p:nvPicPr>
          <p:cNvPr id="53" name="icon-177" descr="preencoded.png">    </p:cNvPr>
          <p:cNvPicPr>
            <a:picLocks noChangeAspect="1"/>
          </p:cNvPicPr>
          <p:nvPr/>
        </p:nvPicPr>
        <p:blipFill>
          <a:blip r:embed="rId3"/>
          <a:stretch>
            <a:fillRect/>
          </a:stretch>
        </p:blipFill>
        <p:spPr>
          <a:xfrm>
            <a:off x="676656" y="5916168"/>
            <a:ext cx="274320" cy="274320"/>
          </a:xfrm>
          <a:prstGeom prst="rect">
            <a:avLst/>
          </a:prstGeom>
        </p:spPr>
      </p:pic>
      <p:sp>
        <p:nvSpPr>
          <p:cNvPr id="54" name="text-178"/>
          <p:cNvSpPr txBox="1"/>
          <p:nvPr/>
        </p:nvSpPr>
        <p:spPr>
          <a:xfrm>
            <a:off x="1024128" y="5852160"/>
            <a:ext cx="1033272" cy="402336"/>
          </a:xfrm>
          <a:prstGeom prst="rect">
            <a:avLst/>
          </a:prstGeom>
          <a:noFill/>
          <a:ln/>
        </p:spPr>
        <p:txBody>
          <a:bodyPr wrap="square" lIns="0" tIns="0" rIns="0" bIns="0" rtlCol="0" anchor="ctr"/>
          <a:lstStyle/>
          <a:p>
            <a:pPr algn="l" indent="0" marL="0">
              <a:buNone/>
            </a:pPr>
            <a:r>
              <a:rPr lang="en-US" sz="1200" dirty="0">
                <a:solidFill>
                  <a:schemeClr val="tx1"/>
                </a:solidFill>
              </a:rPr>
              <a:t>720 s budget</a:t>
            </a:r>
            <a:endParaRPr lang="en-US" sz="1200" dirty="0"/>
          </a:p>
        </p:txBody>
      </p:sp>
      <p:sp>
        <p:nvSpPr>
          <p:cNvPr id="55" name="fact-179"/>
          <p:cNvSpPr/>
          <p:nvPr/>
        </p:nvSpPr>
        <p:spPr>
          <a:xfrm>
            <a:off x="2331720" y="5852160"/>
            <a:ext cx="4572000" cy="402336"/>
          </a:xfrm>
          <a:prstGeom prst="roundRect">
            <a:avLst>
              <a:gd name="adj" fmla="val 50000"/>
            </a:avLst>
          </a:prstGeom>
          <a:solidFill>
            <a:schemeClr val="bg2"/>
          </a:solidFill>
          <a:ln/>
        </p:spPr>
      </p:sp>
      <p:pic>
        <p:nvPicPr>
          <p:cNvPr id="56" name="icon-180" descr="preencoded.png">    </p:cNvPr>
          <p:cNvPicPr>
            <a:picLocks noChangeAspect="1"/>
          </p:cNvPicPr>
          <p:nvPr/>
        </p:nvPicPr>
        <p:blipFill>
          <a:blip r:embed="rId4"/>
          <a:stretch>
            <a:fillRect/>
          </a:stretch>
        </p:blipFill>
        <p:spPr>
          <a:xfrm>
            <a:off x="2459736" y="5916168"/>
            <a:ext cx="274320" cy="274320"/>
          </a:xfrm>
          <a:prstGeom prst="rect">
            <a:avLst/>
          </a:prstGeom>
        </p:spPr>
      </p:pic>
      <p:sp>
        <p:nvSpPr>
          <p:cNvPr id="57" name="text-181"/>
          <p:cNvSpPr txBox="1"/>
          <p:nvPr/>
        </p:nvSpPr>
        <p:spPr>
          <a:xfrm>
            <a:off x="2807208" y="5852160"/>
            <a:ext cx="4005072" cy="402336"/>
          </a:xfrm>
          <a:prstGeom prst="rect">
            <a:avLst/>
          </a:prstGeom>
          <a:noFill/>
          <a:ln/>
        </p:spPr>
        <p:txBody>
          <a:bodyPr wrap="square" lIns="0" tIns="0" rIns="0" bIns="0" rtlCol="0" anchor="ctr"/>
          <a:lstStyle/>
          <a:p>
            <a:pPr algn="l" indent="0" marL="0">
              <a:buNone/>
            </a:pPr>
            <a:r>
              <a:rPr lang="en-US" sz="1200" dirty="0">
                <a:solidFill>
                  <a:schemeClr val="tx1"/>
                </a:solidFill>
              </a:rPr>
              <a:t>May edit: tests/test_generated.py only (starts empty)</a:t>
            </a:r>
            <a:endParaRPr lang="en-US" sz="1200" dirty="0"/>
          </a:p>
        </p:txBody>
      </p:sp>
      <p:sp>
        <p:nvSpPr>
          <p:cNvPr id="58" name="fact-182"/>
          <p:cNvSpPr/>
          <p:nvPr/>
        </p:nvSpPr>
        <p:spPr>
          <a:xfrm>
            <a:off x="7086600" y="5852160"/>
            <a:ext cx="4553712" cy="402336"/>
          </a:xfrm>
          <a:prstGeom prst="roundRect">
            <a:avLst>
              <a:gd name="adj" fmla="val 50000"/>
            </a:avLst>
          </a:prstGeom>
          <a:solidFill>
            <a:schemeClr val="bg2"/>
          </a:solidFill>
          <a:ln/>
        </p:spPr>
      </p:sp>
      <p:pic>
        <p:nvPicPr>
          <p:cNvPr id="59" name="icon-183" descr="preencoded.png">    </p:cNvPr>
          <p:cNvPicPr>
            <a:picLocks noChangeAspect="1"/>
          </p:cNvPicPr>
          <p:nvPr/>
        </p:nvPicPr>
        <p:blipFill>
          <a:blip r:embed="rId5"/>
          <a:stretch>
            <a:fillRect/>
          </a:stretch>
        </p:blipFill>
        <p:spPr>
          <a:xfrm>
            <a:off x="7214616" y="5916168"/>
            <a:ext cx="274320" cy="274320"/>
          </a:xfrm>
          <a:prstGeom prst="rect">
            <a:avLst/>
          </a:prstGeom>
        </p:spPr>
      </p:pic>
      <p:sp>
        <p:nvSpPr>
          <p:cNvPr id="60" name="text-184"/>
          <p:cNvSpPr txBox="1"/>
          <p:nvPr/>
        </p:nvSpPr>
        <p:spPr>
          <a:xfrm>
            <a:off x="7562088" y="5852160"/>
            <a:ext cx="3986784" cy="402336"/>
          </a:xfrm>
          <a:prstGeom prst="rect">
            <a:avLst/>
          </a:prstGeom>
          <a:noFill/>
          <a:ln/>
        </p:spPr>
        <p:txBody>
          <a:bodyPr wrap="square" lIns="0" tIns="0" rIns="0" bIns="0" rtlCol="0" anchor="ctr"/>
          <a:lstStyle/>
          <a:p>
            <a:pPr algn="l" indent="0" marL="0">
              <a:buNone/>
            </a:pPr>
            <a:r>
              <a:rPr lang="en-US" sz="1200" dirty="0">
                <a:solidFill>
                  <a:schemeClr val="tx1"/>
                </a:solidFill>
              </a:rPr>
              <a:t>Offline container · no network calls needed</a:t>
            </a:r>
            <a:endParaRPr lang="en-US" sz="1200" dirty="0"/>
          </a:p>
        </p:txBody>
      </p:sp>
      <p:sp>
        <p:nvSpPr>
          <p:cNvPr id="25" name="Slide Number Placeholder 0"/>
          <p:cNvSpPr>
            <a:spLocks noGrp="1"/>
          </p:cNvSpPr>
          <p:nvPr>
            <p:ph type="sldNum" sz="quarter" idx="4294967295"/>
          </p:nvPr>
        </p:nvSpPr>
        <p:spPr>
          <a:xfrm>
            <a:off x="11109960"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8229600" cy="274320"/>
          </a:xfrm>
          <a:prstGeom prst="rect">
            <a:avLst/>
          </a:prstGeom>
          <a:noFill/>
          <a:ln/>
        </p:spPr>
        <p:txBody>
          <a:bodyPr wrap="square" lIns="0" tIns="0" rIns="0" bIns="0" rtlCol="0" anchor="ctr"/>
          <a:lstStyle/>
          <a:p>
            <a:pPr indent="0" marL="0">
              <a:buNone/>
            </a:pPr>
            <a:r>
              <a:rPr lang="en-US" sz="1200" b="1" spc="150" kern="0" dirty="0">
                <a:solidFill>
                  <a:schemeClr val="accent1"/>
                </a:solidFill>
              </a:rPr>
              <a:t>WORKLOAD 3 OF 3 · REGRESSION TESTS · MODEL COMPARISON</a:t>
            </a:r>
            <a:endParaRPr lang="en-US" sz="1200" dirty="0"/>
          </a:p>
        </p:txBody>
      </p:sp>
      <p:sp>
        <p:nvSpPr>
          <p:cNvPr id="3" name="Text 0"/>
          <p:cNvSpPr/>
          <p:nvPr>
            <p:ph idx="101"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3000" b="1" dirty="0">
                <a:solidFill>
                  <a:schemeClr val="tx1"/>
                </a:solidFill>
              </a:rPr>
              <a:t>4 of 5 models caught all 8 bugs; Coder and Astra in ~1 min</a:t>
            </a:r>
            <a:endParaRPr lang="en-US" sz="3000" dirty="0"/>
          </a:p>
        </p:txBody>
      </p:sp>
      <p:sp>
        <p:nvSpPr>
          <p:cNvPr id="4" name="chart-frame-185"/>
          <p:cNvSpPr/>
          <p:nvPr/>
        </p:nvSpPr>
        <p:spPr>
          <a:xfrm>
            <a:off x="548640" y="1417320"/>
            <a:ext cx="4572000" cy="3429000"/>
          </a:xfrm>
          <a:prstGeom prst="roundRect">
            <a:avLst>
              <a:gd name="adj" fmla="val 2667"/>
            </a:avLst>
          </a:prstGeom>
          <a:solidFill>
            <a:schemeClr val="bg1"/>
          </a:solidFill>
          <a:ln w="12700">
            <a:solidFill>
              <a:srgbClr val="D3DBE5"/>
            </a:solidFill>
            <a:prstDash val="solid"/>
          </a:ln>
        </p:spPr>
      </p:sp>
      <p:graphicFrame>
        <p:nvGraphicFramePr>
          <p:cNvPr id="5" name="chart-186" descr=""/>
          <p:cNvGraphicFramePr/>
          <p:nvPr/>
        </p:nvGraphicFramePr>
        <p:xfrm>
          <a:off x="603504" y="1463040"/>
          <a:ext cx="4462272" cy="33375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187"/>
          <p:cNvGraphicFramePr>
            <a:graphicFrameLocks noGrp="1"/>
          </p:cNvGraphicFramePr>
          <p:nvPr>
            <p:extLst>
              <p:ext uri="{D42A27DB-BD31-4B8C-83A1-F6EECF244321}">
                <p14:modId xmlns:p14="http://schemas.microsoft.com/office/powerpoint/2010/main" val="1579011935"/>
              </p:ext>
            </p:extLst>
          </p:nvPr>
        </p:nvGraphicFramePr>
        <p:xfrm>
          <a:off x="5303520" y="1417320"/>
          <a:ext cx="6336792" cy="914400"/>
        </p:xfrm>
        <a:graphic>
          <a:graphicData uri="http://schemas.openxmlformats.org/drawingml/2006/table">
            <a:tbl>
              <a:tblPr/>
              <a:tblGrid>
                <a:gridCol w="1444752"/>
                <a:gridCol w="978408"/>
                <a:gridCol w="978408"/>
                <a:gridCol w="978408"/>
                <a:gridCol w="978408"/>
                <a:gridCol w="978408"/>
              </a:tblGrid>
              <a:tr h="274320">
                <a:tc>
                  <a:txBody>
                    <a:bodyPr/>
                    <a:lstStyle/>
                    <a:p>
                      <a:pPr algn="l" indent="0" marL="0">
                        <a:buNone/>
                      </a:pPr>
                      <a:endParaRPr lang="en-US" sz="120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bg1"/>
                    </a:solidFill>
                  </a:tcPr>
                </a:tc>
                <a:tc gridSpan="4">
                  <a:txBody>
                    <a:bodyPr/>
                    <a:lstStyle/>
                    <a:p>
                      <a:pPr algn="ctr" indent="0" marL="0">
                        <a:buNone/>
                      </a:pPr>
                      <a:r>
                        <a:rPr lang="en-US" sz="1000" b="1" dirty="0">
                          <a:solidFill>
                            <a:schemeClr val="bg1"/>
                          </a:solidFill>
                        </a:rPr>
                        <a:t>LOCAL · Intel Arc B390 GPU · $0 API fee</a:t>
                      </a:r>
                      <a:endParaRPr lang="en-US" sz="1000" dirty="0"/>
                    </a:p>
                  </a:txBody>
                  <a:tcPr marL="36576" marR="36576" marT="18288" marB="18288"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tx2"/>
                    </a:solidFill>
                  </a:tcPr>
                </a:tc>
                <a:tc hMerge="1">
                  <a:tcPr/>
                </a:tc>
                <a:tc hMerge="1">
                  <a:tcPr/>
                </a:tc>
                <a:tc hMerge="1">
                  <a:tcPr/>
                </a:tc>
                <a:tc>
                  <a:txBody>
                    <a:bodyPr/>
                    <a:lstStyle/>
                    <a:p>
                      <a:pPr algn="ctr" indent="0" marL="0">
                        <a:buNone/>
                      </a:pPr>
                      <a:r>
                        <a:rPr lang="en-US" sz="1000" b="1" dirty="0">
                          <a:solidFill>
                            <a:schemeClr val="bg1"/>
                          </a:solidFill>
                        </a:rPr>
                        <a:t>CLOUD</a:t>
                      </a:r>
                      <a:endParaRPr lang="en-US" sz="1000" dirty="0"/>
                    </a:p>
                  </a:txBody>
                  <a:tcPr marL="36576" marR="36576" marT="18288" marB="18288"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tx2"/>
                    </a:solidFill>
                  </a:tcPr>
                </a:tc>
              </a:tr>
              <a:tr h="502920">
                <a:tc>
                  <a:txBody>
                    <a:bodyPr/>
                    <a:lstStyle/>
                    <a:p>
                      <a:pPr algn="l" indent="0" marL="0">
                        <a:buNone/>
                      </a:pPr>
                      <a:endParaRPr lang="en-US" sz="120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Qwen3.8 27B</a:t>
                      </a:r>
                      <a:endParaRPr lang="en-US" sz="1200" dirty="0"/>
                    </a:p>
                    <a:p>
                      <a:pPr algn="ctr" indent="0" marL="0">
                        <a:buNone/>
                      </a:pPr>
                      <a:r>
                        <a:rPr lang="en-US" sz="850" dirty="0">
                          <a:solidFill>
                            <a:schemeClr val="bg1"/>
                          </a:solidFill>
                        </a:rPr>
                        <a:t>base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Qwen3.8 27B</a:t>
                      </a:r>
                      <a:endParaRPr lang="en-US" sz="1200" dirty="0"/>
                    </a:p>
                    <a:p>
                      <a:pPr algn="ctr" indent="0" marL="0">
                        <a:buNone/>
                      </a:pPr>
                      <a:r>
                        <a:rPr lang="en-US" sz="850" dirty="0">
                          <a:solidFill>
                            <a:schemeClr val="bg1"/>
                          </a:solidFill>
                        </a:rPr>
                        <a:t>Fable 5 distill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Qwen3-Coder</a:t>
                      </a:r>
                      <a:endParaRPr lang="en-US" sz="1200" dirty="0"/>
                    </a:p>
                    <a:p>
                      <a:pPr algn="ctr" indent="0" marL="0">
                        <a:buNone/>
                      </a:pPr>
                      <a:r>
                        <a:rPr lang="en-US" sz="850" dirty="0">
                          <a:solidFill>
                            <a:schemeClr val="bg1"/>
                          </a:solidFill>
                        </a:rPr>
                        <a:t>30B-A3B · INT4</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Qwen3 8B</a:t>
                      </a:r>
                      <a:endParaRPr lang="en-US" sz="1200" dirty="0"/>
                    </a:p>
                    <a:p>
                      <a:pPr algn="ctr" indent="0" marL="0">
                        <a:buNone/>
                      </a:pPr>
                      <a:r>
                        <a:rPr lang="en-US" sz="850" dirty="0">
                          <a:solidFill>
                            <a:schemeClr val="bg1"/>
                          </a:solidFill>
                        </a:rPr>
                        <a:t>INT8</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1"/>
                    </a:solidFill>
                  </a:tcPr>
                </a:tc>
                <a:tc>
                  <a:txBody>
                    <a:bodyPr/>
                    <a:lstStyle/>
                    <a:p>
                      <a:pPr algn="ctr" indent="0" marL="0">
                        <a:buNone/>
                      </a:pPr>
                      <a:r>
                        <a:rPr lang="en-US" sz="1100" b="1" dirty="0">
                          <a:solidFill>
                            <a:schemeClr val="bg1"/>
                          </a:solidFill>
                        </a:rPr>
                        <a:t>GPT-6 Astra</a:t>
                      </a:r>
                      <a:endParaRPr lang="en-US" sz="1200" dirty="0"/>
                    </a:p>
                    <a:p>
                      <a:pPr algn="ctr" indent="0" marL="0">
                        <a:buNone/>
                      </a:pPr>
                      <a:r>
                        <a:rPr lang="en-US" sz="850" dirty="0">
                          <a:solidFill>
                            <a:schemeClr val="bg1"/>
                          </a:solidFill>
                        </a:rPr>
                        <a:t>OpenAI API</a:t>
                      </a:r>
                      <a:endParaRPr lang="en-US" sz="1200" dirty="0"/>
                    </a:p>
                  </a:txBody>
                  <a:tcPr marL="36576" marR="36576" marT="36576" marB="36576"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solidFill>
                      <a:schemeClr val="accent5"/>
                    </a:solidFill>
                  </a:tcPr>
                </a:tc>
              </a:tr>
              <a:tr h="347472">
                <a:tc>
                  <a:txBody>
                    <a:bodyPr/>
                    <a:lstStyle/>
                    <a:p>
                      <a:pPr algn="l" indent="0" marL="0">
                        <a:buNone/>
                      </a:pPr>
                      <a:r>
                        <a:rPr lang="en-US" sz="1050" b="1" dirty="0">
                          <a:solidFill>
                            <a:schemeClr val="accent6"/>
                          </a:solidFill>
                        </a:rPr>
                        <a:t>Outcome</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4"/>
                          </a:solidFill>
                        </a:rPr>
                        <a:t>Tests wrong</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b="1" dirty="0">
                          <a:solidFill>
                            <a:schemeClr val="accent3"/>
                          </a:solidFill>
                        </a:rPr>
                        <a:t>Accepted</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Witness tests, of 9</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Own tests passing</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27 / 27</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30 / 30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 / 3</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 / 3</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36 / 36</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Faults caught, of 8</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8</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Output tokens/s</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6.9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6.9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39.4</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13.3</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50.5</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r h="347472">
                <a:tc>
                  <a:txBody>
                    <a:bodyPr/>
                    <a:lstStyle/>
                    <a:p>
                      <a:pPr algn="l" indent="0" marL="0">
                        <a:buNone/>
                      </a:pPr>
                      <a:r>
                        <a:rPr lang="en-US" sz="1050" b="1" dirty="0">
                          <a:solidFill>
                            <a:schemeClr val="accent6"/>
                          </a:solidFill>
                        </a:rPr>
                        <a:t>API fee</a:t>
                      </a:r>
                      <a:endParaRPr lang="en-US" sz="1050" dirty="0"/>
                    </a:p>
                  </a:txBody>
                  <a:tcPr marL="91440" marR="91440" marT="45720" marB="45720"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c>
                  <a:txBody>
                    <a:bodyPr/>
                    <a:lstStyle/>
                    <a:p>
                      <a:pPr algn="ctr" indent="0" marL="0">
                        <a:buNone/>
                      </a:pPr>
                      <a:r>
                        <a:rPr lang="en-US" sz="1050" dirty="0">
                          <a:solidFill>
                            <a:schemeClr val="tx1"/>
                          </a:solidFill>
                        </a:rPr>
                        <a:t>$0.19</a:t>
                      </a:r>
                      <a:endParaRPr lang="en-US" sz="1050" dirty="0"/>
                    </a:p>
                  </a:txBody>
                  <a:tcPr marL="36576" marR="36576" marT="27432" marB="27432" anchor="ctr">
                    <a:lnL w="9525" cap="flat" cmpd="sng" algn="ctr">
                      <a:solidFill>
                        <a:srgbClr val="D3DBE5"/>
                      </a:solidFill>
                      <a:prstDash val="solid"/>
                      <a:round/>
                      <a:headEnd type="none" w="med" len="med"/>
                      <a:tailEnd type="none" w="med" len="med"/>
                    </a:lnL>
                    <a:lnR w="9525" cap="flat" cmpd="sng" algn="ctr">
                      <a:solidFill>
                        <a:srgbClr val="D3DBE5"/>
                      </a:solidFill>
                      <a:prstDash val="solid"/>
                      <a:round/>
                      <a:headEnd type="none" w="med" len="med"/>
                      <a:tailEnd type="none" w="med" len="med"/>
                    </a:lnR>
                    <a:lnT w="9525" cap="flat" cmpd="sng" algn="ctr">
                      <a:solidFill>
                        <a:srgbClr val="D3DBE5"/>
                      </a:solidFill>
                      <a:prstDash val="solid"/>
                      <a:round/>
                      <a:headEnd type="none" w="med" len="med"/>
                      <a:tailEnd type="none" w="med" len="med"/>
                    </a:lnT>
                    <a:lnB w="9525" cap="flat" cmpd="sng" algn="ctr">
                      <a:solidFill>
                        <a:srgbClr val="D3DBE5"/>
                      </a:solidFill>
                      <a:prstDash val="solid"/>
                      <a:round/>
                      <a:headEnd type="none" w="med" len="med"/>
                      <a:tailEnd type="none" w="med" len="med"/>
                    </a:lnB>
                  </a:tcPr>
                </a:tc>
              </a:tr>
            </a:tbl>
          </a:graphicData>
        </a:graphic>
      </p:graphicFrame>
      <p:sp>
        <p:nvSpPr>
          <p:cNvPr id="7" name="text-188"/>
          <p:cNvSpPr txBox="1"/>
          <p:nvPr/>
        </p:nvSpPr>
        <p:spPr>
          <a:xfrm>
            <a:off x="5303520" y="4352544"/>
            <a:ext cx="6336792" cy="493776"/>
          </a:xfrm>
          <a:prstGeom prst="rect">
            <a:avLst/>
          </a:prstGeom>
          <a:noFill/>
          <a:ln/>
        </p:spPr>
        <p:txBody>
          <a:bodyPr wrap="square" lIns="0" tIns="0" rIns="0" bIns="0" rtlCol="0" anchor="t"/>
          <a:lstStyle/>
          <a:p>
            <a:pPr algn="l" indent="0" marL="0">
              <a:buNone/>
            </a:pPr>
            <a:r>
              <a:rPr lang="en-US" sz="1000" i="1" dirty="0">
                <a:solidFill>
                  <a:schemeClr val="accent6"/>
                </a:solidFill>
              </a:rPr>
              <a:t>Source: regression-tests/artifacts/comparison-report-20261021-125555.md · freeze v2 · 720 s · unscored pilots. One attempt per model, the first accepted (27B, Coder and Astra each ran 2, both accepted). Fable 5 is a local Qwen3.8 27B coding distill, not a cloud model.</a:t>
            </a:r>
            <a:endParaRPr lang="en-US" sz="1000" dirty="0"/>
          </a:p>
        </p:txBody>
      </p:sp>
      <p:sp>
        <p:nvSpPr>
          <p:cNvPr id="8" name="take-189"/>
          <p:cNvSpPr/>
          <p:nvPr/>
        </p:nvSpPr>
        <p:spPr>
          <a:xfrm>
            <a:off x="548640" y="5029200"/>
            <a:ext cx="3538728" cy="1207008"/>
          </a:xfrm>
          <a:prstGeom prst="roundRect">
            <a:avLst>
              <a:gd name="adj" fmla="val 7576"/>
            </a:avLst>
          </a:prstGeom>
          <a:solidFill>
            <a:schemeClr val="bg2"/>
          </a:solidFill>
          <a:ln/>
        </p:spPr>
      </p:sp>
      <p:sp>
        <p:nvSpPr>
          <p:cNvPr id="9" name="dot-190"/>
          <p:cNvSpPr/>
          <p:nvPr/>
        </p:nvSpPr>
        <p:spPr>
          <a:xfrm>
            <a:off x="713232" y="5175504"/>
            <a:ext cx="384048" cy="384048"/>
          </a:xfrm>
          <a:prstGeom prst="ellipse">
            <a:avLst/>
          </a:prstGeom>
          <a:solidFill>
            <a:schemeClr val="accent1"/>
          </a:solidFill>
          <a:ln/>
        </p:spPr>
      </p:sp>
      <p:pic>
        <p:nvPicPr>
          <p:cNvPr id="10" name="icon-191" descr="preencoded.png">    </p:cNvPr>
          <p:cNvPicPr>
            <a:picLocks noChangeAspect="1"/>
          </p:cNvPicPr>
          <p:nvPr/>
        </p:nvPicPr>
        <p:blipFill>
          <a:blip r:embed="rId2"/>
          <a:stretch>
            <a:fillRect/>
          </a:stretch>
        </p:blipFill>
        <p:spPr>
          <a:xfrm>
            <a:off x="805404" y="5267676"/>
            <a:ext cx="199705" cy="199705"/>
          </a:xfrm>
          <a:prstGeom prst="rect">
            <a:avLst/>
          </a:prstGeom>
        </p:spPr>
      </p:pic>
      <p:sp>
        <p:nvSpPr>
          <p:cNvPr id="11" name="text-192"/>
          <p:cNvSpPr txBox="1"/>
          <p:nvPr/>
        </p:nvSpPr>
        <p:spPr>
          <a:xfrm>
            <a:off x="1188720"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Local 27B models: thorough, slow</a:t>
            </a:r>
            <a:endParaRPr lang="en-US" sz="1400" dirty="0"/>
          </a:p>
        </p:txBody>
      </p:sp>
      <p:sp>
        <p:nvSpPr>
          <p:cNvPr id="12" name="text-193"/>
          <p:cNvSpPr txBox="1"/>
          <p:nvPr/>
        </p:nvSpPr>
        <p:spPr>
          <a:xfrm>
            <a:off x="713232"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Base 27B and Fable 5 wrote 27–30 tests and caught 8 of 8, but used 587–672 s of the 720 s budget at ~7 tokens/s.</a:t>
            </a:r>
            <a:endParaRPr lang="en-US" sz="1100" dirty="0"/>
          </a:p>
        </p:txBody>
      </p:sp>
      <p:sp>
        <p:nvSpPr>
          <p:cNvPr id="13" name="take-194"/>
          <p:cNvSpPr/>
          <p:nvPr/>
        </p:nvSpPr>
        <p:spPr>
          <a:xfrm>
            <a:off x="4325112" y="5029200"/>
            <a:ext cx="3538728" cy="1207008"/>
          </a:xfrm>
          <a:prstGeom prst="roundRect">
            <a:avLst>
              <a:gd name="adj" fmla="val 7576"/>
            </a:avLst>
          </a:prstGeom>
          <a:solidFill>
            <a:schemeClr val="bg2"/>
          </a:solidFill>
          <a:ln/>
        </p:spPr>
      </p:sp>
      <p:sp>
        <p:nvSpPr>
          <p:cNvPr id="14" name="dot-195"/>
          <p:cNvSpPr/>
          <p:nvPr/>
        </p:nvSpPr>
        <p:spPr>
          <a:xfrm>
            <a:off x="4489704" y="5175504"/>
            <a:ext cx="384048" cy="384048"/>
          </a:xfrm>
          <a:prstGeom prst="ellipse">
            <a:avLst/>
          </a:prstGeom>
          <a:solidFill>
            <a:schemeClr val="accent5"/>
          </a:solidFill>
          <a:ln/>
        </p:spPr>
      </p:sp>
      <p:pic>
        <p:nvPicPr>
          <p:cNvPr id="15" name="icon-196" descr="preencoded.png">    </p:cNvPr>
          <p:cNvPicPr>
            <a:picLocks noChangeAspect="1"/>
          </p:cNvPicPr>
          <p:nvPr/>
        </p:nvPicPr>
        <p:blipFill>
          <a:blip r:embed="rId3"/>
          <a:stretch>
            <a:fillRect/>
          </a:stretch>
        </p:blipFill>
        <p:spPr>
          <a:xfrm>
            <a:off x="4581876" y="5267676"/>
            <a:ext cx="199705" cy="199705"/>
          </a:xfrm>
          <a:prstGeom prst="rect">
            <a:avLst/>
          </a:prstGeom>
        </p:spPr>
      </p:pic>
      <p:sp>
        <p:nvSpPr>
          <p:cNvPr id="16" name="text-197"/>
          <p:cNvSpPr txBox="1"/>
          <p:nvPr/>
        </p:nvSpPr>
        <p:spPr>
          <a:xfrm>
            <a:off x="4965192"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Coder and Astra: about a minute</a:t>
            </a:r>
            <a:endParaRPr lang="en-US" sz="1400" dirty="0"/>
          </a:p>
        </p:txBody>
      </p:sp>
      <p:sp>
        <p:nvSpPr>
          <p:cNvPr id="17" name="text-198"/>
          <p:cNvSpPr txBox="1"/>
          <p:nvPr/>
        </p:nvSpPr>
        <p:spPr>
          <a:xfrm>
            <a:off x="4489704"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Local Qwen3-Coder caught all 8 in 48 s with only 3 tests, for $0. Cloud Astra took 60 s and wrote 36 tests, for $0.19.</a:t>
            </a:r>
            <a:endParaRPr lang="en-US" sz="1100" dirty="0"/>
          </a:p>
        </p:txBody>
      </p:sp>
      <p:sp>
        <p:nvSpPr>
          <p:cNvPr id="18" name="take-199"/>
          <p:cNvSpPr/>
          <p:nvPr/>
        </p:nvSpPr>
        <p:spPr>
          <a:xfrm>
            <a:off x="8101584" y="5029200"/>
            <a:ext cx="3538728" cy="1207008"/>
          </a:xfrm>
          <a:prstGeom prst="roundRect">
            <a:avLst>
              <a:gd name="adj" fmla="val 7576"/>
            </a:avLst>
          </a:prstGeom>
          <a:solidFill>
            <a:schemeClr val="bg2"/>
          </a:solidFill>
          <a:ln/>
        </p:spPr>
      </p:sp>
      <p:sp>
        <p:nvSpPr>
          <p:cNvPr id="19" name="dot-200"/>
          <p:cNvSpPr/>
          <p:nvPr/>
        </p:nvSpPr>
        <p:spPr>
          <a:xfrm>
            <a:off x="8266176" y="5175504"/>
            <a:ext cx="384048" cy="384048"/>
          </a:xfrm>
          <a:prstGeom prst="ellipse">
            <a:avLst/>
          </a:prstGeom>
          <a:solidFill>
            <a:schemeClr val="accent4"/>
          </a:solidFill>
          <a:ln/>
        </p:spPr>
      </p:sp>
      <p:pic>
        <p:nvPicPr>
          <p:cNvPr id="20" name="icon-201" descr="preencoded.png">    </p:cNvPr>
          <p:cNvPicPr>
            <a:picLocks noChangeAspect="1"/>
          </p:cNvPicPr>
          <p:nvPr/>
        </p:nvPicPr>
        <p:blipFill>
          <a:blip r:embed="rId4"/>
          <a:stretch>
            <a:fillRect/>
          </a:stretch>
        </p:blipFill>
        <p:spPr>
          <a:xfrm>
            <a:off x="8358348" y="5267676"/>
            <a:ext cx="199705" cy="199705"/>
          </a:xfrm>
          <a:prstGeom prst="rect">
            <a:avLst/>
          </a:prstGeom>
        </p:spPr>
      </p:pic>
      <p:sp>
        <p:nvSpPr>
          <p:cNvPr id="21" name="text-202"/>
          <p:cNvSpPr txBox="1"/>
          <p:nvPr/>
        </p:nvSpPr>
        <p:spPr>
          <a:xfrm>
            <a:off x="8741664" y="5157216"/>
            <a:ext cx="2834640" cy="420624"/>
          </a:xfrm>
          <a:prstGeom prst="rect">
            <a:avLst/>
          </a:prstGeom>
          <a:noFill/>
          <a:ln/>
        </p:spPr>
        <p:txBody>
          <a:bodyPr wrap="square" lIns="0" tIns="0" rIns="0" bIns="0" rtlCol="0" anchor="ctr"/>
          <a:lstStyle/>
          <a:p>
            <a:pPr algn="l" indent="0" marL="0">
              <a:buNone/>
            </a:pPr>
            <a:r>
              <a:rPr lang="en-US" sz="1400" b="1" dirty="0">
                <a:solidFill>
                  <a:schemeClr val="tx1"/>
                </a:solidFill>
              </a:rPr>
              <a:t>8B guessed wrong answers</a:t>
            </a:r>
            <a:endParaRPr lang="en-US" sz="1400" dirty="0"/>
          </a:p>
        </p:txBody>
      </p:sp>
      <p:sp>
        <p:nvSpPr>
          <p:cNvPr id="22" name="text-203"/>
          <p:cNvSpPr txBox="1"/>
          <p:nvPr/>
        </p:nvSpPr>
        <p:spPr>
          <a:xfrm>
            <a:off x="8266176" y="5605272"/>
            <a:ext cx="3246120" cy="603504"/>
          </a:xfrm>
          <a:prstGeom prst="rect">
            <a:avLst/>
          </a:prstGeom>
          <a:noFill/>
          <a:ln/>
        </p:spPr>
        <p:txBody>
          <a:bodyPr wrap="square" lIns="0" tIns="0" rIns="0" bIns="0" rtlCol="0" anchor="t"/>
          <a:lstStyle/>
          <a:p>
            <a:pPr algn="l" indent="0" marL="0">
              <a:buNone/>
            </a:pPr>
            <a:r>
              <a:rPr lang="en-US" sz="1100" dirty="0">
                <a:solidFill>
                  <a:schemeClr val="accent6"/>
                </a:solidFill>
              </a:rPr>
              <a:t>Its 3 tests expected, for example, that adding a scheme strips user:password, so they failed on correct code and caught nothing.</a:t>
            </a:r>
            <a:endParaRPr lang="en-US" sz="1100" dirty="0"/>
          </a:p>
        </p:txBody>
      </p:sp>
      <p:sp>
        <p:nvSpPr>
          <p:cNvPr id="25" name="Slide Number Placeholder 0"/>
          <p:cNvSpPr>
            <a:spLocks noGrp="1"/>
          </p:cNvSpPr>
          <p:nvPr>
            <p:ph type="sldNum" sz="quarter" idx="4294967295"/>
          </p:nvPr>
        </p:nvSpPr>
        <p:spPr>
          <a:xfrm>
            <a:off x="11109960" y="6382512"/>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AI PC Workflow">
  <a:themeElements>
    <a:clrScheme name="AI PC Workflow">
      <a:dk1>
        <a:srgbClr val="1C2533"/>
      </a:dk1>
      <a:lt1>
        <a:srgbClr val="FFFFFF"/>
      </a:lt1>
      <a:dk2>
        <a:srgbClr val="0F2338"/>
      </a:dk2>
      <a:lt2>
        <a:srgbClr val="EEF2F7"/>
      </a:lt2>
      <a:accent1>
        <a:srgbClr val="0B7A99"/>
      </a:accent1>
      <a:accent2>
        <a:srgbClr val="E8A33D"/>
      </a:accent2>
      <a:accent3>
        <a:srgbClr val="2E8B57"/>
      </a:accent3>
      <a:accent4>
        <a:srgbClr val="C8473F"/>
      </a:accent4>
      <a:accent5>
        <a:srgbClr val="6A5ACD"/>
      </a:accent5>
      <a:accent6>
        <a:srgbClr val="5E6B7A"/>
      </a:accent6>
      <a:hlink>
        <a:srgbClr val="0B7A99"/>
      </a:hlink>
      <a:folHlink>
        <a:srgbClr val="6A5ACD"/>
      </a:folHlink>
    </a:clrScheme>
    <a:fontScheme name="AI PC Workflo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OpenVINO Ecosystem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Three AI PC developer workloads: local vs cloud models</dc:title>
  <dc:subject>Dependency Migration, Security Repair and Regression Tests: the task and the model comparison for each</dc:subject>
  <dc:creator>Morteza Heidari</dc:creator>
  <cp:lastModifiedBy>Morteza Heidari</cp:lastModifiedBy>
  <cp:revision>1</cp:revision>
  <dcterms:created xsi:type="dcterms:W3CDTF">2026-10-27T03:07:32Z</dcterms:created>
  <dcterms:modified xsi:type="dcterms:W3CDTF">2026-10-27T03:07:32Z</dcterms:modified>
</cp:coreProperties>
</file>